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sldIdLst>
    <p:sldId id="256" r:id="rId5"/>
    <p:sldId id="257" r:id="rId6"/>
    <p:sldId id="261" r:id="rId7"/>
    <p:sldId id="260" r:id="rId8"/>
    <p:sldId id="338" r:id="rId9"/>
    <p:sldId id="341" r:id="rId10"/>
    <p:sldId id="263" r:id="rId11"/>
    <p:sldId id="332" r:id="rId12"/>
    <p:sldId id="322" r:id="rId13"/>
    <p:sldId id="4214" r:id="rId14"/>
    <p:sldId id="4215" r:id="rId15"/>
    <p:sldId id="340" r:id="rId16"/>
    <p:sldId id="328" r:id="rId17"/>
    <p:sldId id="274" r:id="rId18"/>
    <p:sldId id="4211" r:id="rId19"/>
    <p:sldId id="289" r:id="rId20"/>
    <p:sldId id="4212" r:id="rId21"/>
    <p:sldId id="4213" r:id="rId22"/>
    <p:sldId id="331" r:id="rId23"/>
    <p:sldId id="259" r:id="rId24"/>
    <p:sldId id="293" r:id="rId25"/>
    <p:sldId id="335" r:id="rId26"/>
    <p:sldId id="342" r:id="rId27"/>
    <p:sldId id="336"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97" autoAdjust="0"/>
    <p:restoredTop sz="86630" autoAdjust="0"/>
  </p:normalViewPr>
  <p:slideViewPr>
    <p:cSldViewPr>
      <p:cViewPr varScale="1">
        <p:scale>
          <a:sx n="93" d="100"/>
          <a:sy n="93" d="100"/>
        </p:scale>
        <p:origin x="1568" y="208"/>
      </p:cViewPr>
      <p:guideLst>
        <p:guide orient="horz" pos="2160"/>
        <p:guide pos="3840"/>
      </p:guideLst>
    </p:cSldViewPr>
  </p:slideViewPr>
  <p:notesTextViewPr>
    <p:cViewPr>
      <p:scale>
        <a:sx n="3" d="2"/>
        <a:sy n="3" d="2"/>
      </p:scale>
      <p:origin x="0" y="0"/>
    </p:cViewPr>
  </p:notesTextViewPr>
  <p:sorterViewPr>
    <p:cViewPr varScale="1">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2B4B0-CAFF-4CD4-A829-EA7EEDD530F6}" type="datetimeFigureOut">
              <a:rPr lang="en-CA" smtClean="0"/>
              <a:t>2025-07-07</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5748E8-CE84-405F-9D42-57D6626A7D25}" type="slidenum">
              <a:rPr lang="en-CA" smtClean="0"/>
              <a:t>‹#›</a:t>
            </a:fld>
            <a:endParaRPr lang="en-CA" dirty="0"/>
          </a:p>
        </p:txBody>
      </p:sp>
    </p:spTree>
    <p:extLst>
      <p:ext uri="{BB962C8B-B14F-4D97-AF65-F5344CB8AC3E}">
        <p14:creationId xmlns:p14="http://schemas.microsoft.com/office/powerpoint/2010/main" val="3217627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Tx/>
              <a:buChar char="-"/>
            </a:pPr>
            <a:r>
              <a:rPr lang="en-CA" dirty="0"/>
              <a:t>1 - 2 website</a:t>
            </a:r>
            <a:r>
              <a:rPr lang="en-CA" baseline="0" dirty="0"/>
              <a:t> / API releases per year</a:t>
            </a:r>
          </a:p>
        </p:txBody>
      </p:sp>
      <p:sp>
        <p:nvSpPr>
          <p:cNvPr id="4" name="Slide Number Placeholder 3"/>
          <p:cNvSpPr>
            <a:spLocks noGrp="1"/>
          </p:cNvSpPr>
          <p:nvPr>
            <p:ph type="sldNum" sz="quarter" idx="10"/>
          </p:nvPr>
        </p:nvSpPr>
        <p:spPr/>
        <p:txBody>
          <a:bodyPr/>
          <a:lstStyle/>
          <a:p>
            <a:fld id="{D75748E8-CE84-405F-9D42-57D6626A7D25}" type="slidenum">
              <a:rPr lang="en-CA" smtClean="0"/>
              <a:t>4</a:t>
            </a:fld>
            <a:endParaRPr lang="en-CA" dirty="0"/>
          </a:p>
        </p:txBody>
      </p:sp>
    </p:spTree>
    <p:extLst>
      <p:ext uri="{BB962C8B-B14F-4D97-AF65-F5344CB8AC3E}">
        <p14:creationId xmlns:p14="http://schemas.microsoft.com/office/powerpoint/2010/main" val="4120882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5748E8-CE84-405F-9D42-57D6626A7D25}" type="slidenum">
              <a:rPr lang="en-CA" smtClean="0"/>
              <a:t>13</a:t>
            </a:fld>
            <a:endParaRPr lang="en-CA" dirty="0"/>
          </a:p>
        </p:txBody>
      </p:sp>
    </p:spTree>
    <p:extLst>
      <p:ext uri="{BB962C8B-B14F-4D97-AF65-F5344CB8AC3E}">
        <p14:creationId xmlns:p14="http://schemas.microsoft.com/office/powerpoint/2010/main" val="1136454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of weather, hydrological and climate data has continued to this day, now under the WMO, the successor to the IMO within the UN system.</a:t>
            </a:r>
          </a:p>
          <a:p>
            <a:endParaRPr lang="en-US" dirty="0"/>
          </a:p>
          <a:p>
            <a:r>
              <a:rPr lang="en-US" dirty="0"/>
              <a:t>Formation of world weather watch following start of satellite era and truly global coverage of weather and meteorological conditions.</a:t>
            </a:r>
          </a:p>
          <a:p>
            <a:endParaRPr lang="en-US" dirty="0"/>
          </a:p>
          <a:p>
            <a:r>
              <a:rPr lang="en-US" dirty="0"/>
              <a:t>Development of the WMO Global Telecommunication System in the 1970s</a:t>
            </a:r>
          </a:p>
          <a:p>
            <a:endParaRPr lang="en-US" dirty="0"/>
          </a:p>
          <a:p>
            <a:r>
              <a:rPr lang="en-US" dirty="0"/>
              <a:t>Evolution to the WMO Information System in the 2000s in an attempt to modernize the exchange of data. Due to the success of the GTS this was only partly successful with the GTS remaining as the main method for exchanging operational data.</a:t>
            </a:r>
          </a:p>
          <a:p>
            <a:endParaRPr lang="en-US" dirty="0"/>
          </a:p>
          <a:p>
            <a:r>
              <a:rPr lang="en-US" dirty="0"/>
              <a:t>However, the GTS is now struggling under the volume and variety of data to be exchanged.</a:t>
            </a:r>
          </a:p>
          <a:p>
            <a:endParaRPr lang="en-US" dirty="0"/>
          </a:p>
          <a:p>
            <a:r>
              <a:rPr lang="en-US" dirty="0"/>
              <a:t>In order to meet the future needs the WMO Information System is now undergoing another evolution, leveraging open standards, developments with cloud computing and cloud based infrastructure, OTS tools and open source software.</a:t>
            </a:r>
          </a:p>
          <a:p>
            <a:endParaRPr lang="en-US" dirty="0"/>
          </a:p>
          <a:p>
            <a:r>
              <a:rPr lang="en-US" dirty="0"/>
              <a:t>As part of this development and evolution reference implementations of the different components are being developed alongside the WIS 2.0 specifications. </a:t>
            </a:r>
          </a:p>
          <a:p>
            <a:endParaRPr lang="en-US" dirty="0"/>
          </a:p>
          <a:p>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j-ea"/>
                <a:cs typeface="+mj-cs"/>
              </a:rPr>
              <a:t>WMO Strategic Plan (2020-2023): “Technological advances and the increasing demand for more and more diverse services from increasingly sophisticated and capable users changes rapidly the service delivery and business models in many parts of the world.</a:t>
            </a:r>
            <a:r>
              <a:rPr kumimoji="0" lang="en-US" sz="1200" b="0" i="0" u="none" strike="noStrike" kern="1200" cap="none" spc="0" normalizeH="0" baseline="0" noProof="0" dirty="0">
                <a:ln>
                  <a:noFill/>
                </a:ln>
                <a:solidFill>
                  <a:prstClr val="white">
                    <a:lumMod val="65000"/>
                  </a:prstClr>
                </a:solidFill>
                <a:effectLst/>
                <a:uLnTx/>
                <a:uFillTx/>
                <a:latin typeface="Arial Black" panose="020B0A04020102020204" pitchFamily="34" charset="0"/>
                <a:ea typeface="+mj-ea"/>
                <a:cs typeface="+mj-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white">
                    <a:lumMod val="65000"/>
                  </a:prstClr>
                </a:solidFill>
                <a:effectLst/>
                <a:uLnTx/>
                <a:uFillTx/>
                <a:latin typeface="Arial Black" panose="020B0A04020102020204" pitchFamily="34" charset="0"/>
                <a:ea typeface="+mj-ea"/>
                <a:cs typeface="+mj-cs"/>
              </a:rPr>
              <a:t>Cg-17: “Most Members are ill-prepared for the explosion in data volumes and the growing diversity of new data sources.”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white">
                    <a:lumMod val="65000"/>
                  </a:prstClr>
                </a:solidFill>
                <a:effectLst/>
                <a:uLnTx/>
                <a:uFillTx/>
                <a:latin typeface="Arial Black" panose="020B0A04020102020204" pitchFamily="34" charset="0"/>
                <a:ea typeface="+mj-ea"/>
                <a:cs typeface="+mj-cs"/>
              </a:rPr>
              <a:t>CBS led review of emerging data issues: “Cloud computing, Web services, data analytics, machine learning and other technologies present new operating concepts that will improve operational efficiency, information sharing and service delivery, and enable users to more effectively exploit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white">
                  <a:lumMod val="65000"/>
                </a:prstClr>
              </a:solidFill>
              <a:effectLst/>
              <a:uLnTx/>
              <a:uFillTx/>
              <a:latin typeface="Arial Black" panose="020B0A04020102020204" pitchFamily="34" charset="0"/>
              <a:ea typeface="+mj-ea"/>
              <a:cs typeface="+mj-cs"/>
            </a:endParaRPr>
          </a:p>
          <a:p>
            <a:endParaRPr lang="en-US" dirty="0"/>
          </a:p>
          <a:p>
            <a:endParaRPr lang="en-US" dirty="0"/>
          </a:p>
          <a:p>
            <a:endParaRPr lang="en-US" dirty="0"/>
          </a:p>
          <a:p>
            <a:endParaRPr lang="en-CH" dirty="0"/>
          </a:p>
        </p:txBody>
      </p:sp>
      <p:sp>
        <p:nvSpPr>
          <p:cNvPr id="4" name="Slide Number Placeholder 3"/>
          <p:cNvSpPr>
            <a:spLocks noGrp="1"/>
          </p:cNvSpPr>
          <p:nvPr>
            <p:ph type="sldNum" sz="quarter" idx="5"/>
          </p:nvPr>
        </p:nvSpPr>
        <p:spPr/>
        <p:txBody>
          <a:bodyPr/>
          <a:lstStyle/>
          <a:p>
            <a:fld id="{E28D16CF-741C-E447-8F4E-DA51E5B885E0}" type="slidenum">
              <a:rPr lang="en-CH" smtClean="0"/>
              <a:t>15</a:t>
            </a:fld>
            <a:endParaRPr lang="en-CH"/>
          </a:p>
        </p:txBody>
      </p:sp>
    </p:spTree>
    <p:extLst>
      <p:ext uri="{BB962C8B-B14F-4D97-AF65-F5344CB8AC3E}">
        <p14:creationId xmlns:p14="http://schemas.microsoft.com/office/powerpoint/2010/main" val="2622772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CD7448-BA1D-3742-9819-D3EC6E0D6AB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3176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2296-3D37-B686-28F7-6FC33D775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988F3-DDEA-BA7E-52CF-71E09C4D7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75E57-B091-C9A2-1C96-01DDE022653A}"/>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D374B2DC-EA2C-B1F8-AE49-9DD6542189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CD7448-BA1D-3742-9819-D3EC6E0D6AB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9704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D75748E8-CE84-405F-9D42-57D6626A7D25}" type="slidenum">
              <a:rPr lang="en-CA" smtClean="0"/>
              <a:t>21</a:t>
            </a:fld>
            <a:endParaRPr lang="en-CA" dirty="0"/>
          </a:p>
        </p:txBody>
      </p:sp>
    </p:spTree>
    <p:extLst>
      <p:ext uri="{BB962C8B-B14F-4D97-AF65-F5344CB8AC3E}">
        <p14:creationId xmlns:p14="http://schemas.microsoft.com/office/powerpoint/2010/main" val="1751809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6E83A58C-1743-4A3B-89E9-954B4D005C13}" type="slidenum">
              <a:rPr lang="en-US" altLang="en-US" smtClean="0"/>
              <a:pPr>
                <a:defRPr/>
              </a:pPr>
              <a:t>25</a:t>
            </a:fld>
            <a:endParaRPr lang="en-US" altLang="en-US" dirty="0"/>
          </a:p>
        </p:txBody>
      </p:sp>
    </p:spTree>
    <p:extLst>
      <p:ext uri="{BB962C8B-B14F-4D97-AF65-F5344CB8AC3E}">
        <p14:creationId xmlns:p14="http://schemas.microsoft.com/office/powerpoint/2010/main" val="31624452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27448" y="1412778"/>
            <a:ext cx="10657184" cy="1470025"/>
          </a:xfrm>
        </p:spPr>
        <p:txBody>
          <a:bodyPr/>
          <a:lstStyle>
            <a:lvl1pPr algn="l">
              <a:defRPr b="1" baseline="0">
                <a:solidFill>
                  <a:schemeClr val="tx1"/>
                </a:solidFill>
                <a:latin typeface="+mj-lt"/>
              </a:defRPr>
            </a:lvl1pPr>
          </a:lstStyle>
          <a:p>
            <a:r>
              <a:rPr lang="en-US" dirty="0"/>
              <a:t>PLACE YOUR TITLE HERE</a:t>
            </a:r>
          </a:p>
        </p:txBody>
      </p:sp>
      <p:sp>
        <p:nvSpPr>
          <p:cNvPr id="3" name="Subtitle 2"/>
          <p:cNvSpPr>
            <a:spLocks noGrp="1"/>
          </p:cNvSpPr>
          <p:nvPr>
            <p:ph type="subTitle" idx="1" hasCustomPrompt="1"/>
          </p:nvPr>
        </p:nvSpPr>
        <p:spPr>
          <a:xfrm>
            <a:off x="1134221" y="2883051"/>
            <a:ext cx="6593960" cy="1914102"/>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PLACE YOUR </a:t>
            </a:r>
            <a:br>
              <a:rPr lang="en-US" dirty="0"/>
            </a:br>
            <a:r>
              <a:rPr lang="en-US" dirty="0"/>
              <a:t>SUB-TITLE HERE</a:t>
            </a:r>
          </a:p>
        </p:txBody>
      </p:sp>
      <p:sp>
        <p:nvSpPr>
          <p:cNvPr id="4" name="Date Placeholder 3"/>
          <p:cNvSpPr>
            <a:spLocks noGrp="1"/>
          </p:cNvSpPr>
          <p:nvPr>
            <p:ph type="dt" sz="half" idx="10"/>
          </p:nvPr>
        </p:nvSpPr>
        <p:spPr>
          <a:xfrm>
            <a:off x="551384" y="6356353"/>
            <a:ext cx="2844800" cy="365125"/>
          </a:xfrm>
        </p:spPr>
        <p:txBody>
          <a:bodyPr/>
          <a:lstStyle/>
          <a:p>
            <a:fld id="{B335AA31-0271-49B4-89F9-F092CEA62641}" type="datetime1">
              <a:rPr lang="en-US" smtClean="0"/>
              <a:t>7/7/25</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cap="all" baseline="0"/>
            </a:lvl1pPr>
          </a:lstStyle>
          <a:p>
            <a:r>
              <a:rPr lang="en-US" dirty="0"/>
              <a:t>PLACE YOUR TITLE HERE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DB3881-6417-439D-A1CA-A37D5CFB2A33}" type="datetime1">
              <a:rPr lang="en-US" smtClean="0"/>
              <a:t>7/7/25</a:t>
            </a:fld>
            <a:endParaRPr lang="en-US" dirty="0"/>
          </a:p>
        </p:txBody>
      </p:sp>
      <p:sp>
        <p:nvSpPr>
          <p:cNvPr id="6" name="Slide Number Placeholder 5"/>
          <p:cNvSpPr>
            <a:spLocks noGrp="1"/>
          </p:cNvSpPr>
          <p:nvPr>
            <p:ph type="sldNum" sz="quarter" idx="12"/>
          </p:nvPr>
        </p:nvSpPr>
        <p:spPr/>
        <p:txBody>
          <a:bodyPr/>
          <a:lstStyle/>
          <a:p>
            <a:fld id="{5CE84AB2-A68C-446D-B258-F807154688F9}"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70803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dirty="0"/>
          </a:p>
        </p:txBody>
      </p:sp>
    </p:spTree>
    <p:extLst>
      <p:ext uri="{BB962C8B-B14F-4D97-AF65-F5344CB8AC3E}">
        <p14:creationId xmlns:p14="http://schemas.microsoft.com/office/powerpoint/2010/main" val="8796332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F2A14-9F46-44CD-BF7C-12F8BEAF01B6}" type="datetime1">
              <a:rPr lang="en-US" smtClean="0"/>
              <a:t>7/7/25</a:t>
            </a:fld>
            <a:endParaRPr lang="en-US" dirty="0"/>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E84AB2-A68C-446D-B258-F807154688F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ctr" defTabSz="914400" rtl="0" eaLnBrk="1" latinLnBrk="0" hangingPunct="1">
        <a:spcBef>
          <a:spcPct val="0"/>
        </a:spcBef>
        <a:buNone/>
        <a:defRPr sz="4400" b="1" kern="1200" cap="all" baseline="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uide.woudc.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oudc.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woudc" TargetMode="External"/><Relationship Id="rId4" Type="http://schemas.openxmlformats.org/officeDocument/2006/relationships/hyperlink" Target="https://api.woudc.or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wmo-im/wis2-topic-hierarchy/issues/23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uide.woudc.org/" TargetMode="External"/><Relationship Id="rId2" Type="http://schemas.openxmlformats.org/officeDocument/2006/relationships/hyperlink" Target="https://woudc.org/" TargetMode="External"/><Relationship Id="rId1" Type="http://schemas.openxmlformats.org/officeDocument/2006/relationships/slideLayout" Target="../slideLayouts/slideLayout2.xml"/><Relationship Id="rId5" Type="http://schemas.openxmlformats.org/officeDocument/2006/relationships/hyperlink" Target="https://github.com/woudc/woudc/wiki" TargetMode="External"/><Relationship Id="rId4" Type="http://schemas.openxmlformats.org/officeDocument/2006/relationships/hyperlink" Target="https://github.com/woudc"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oudc.org/en/resources/link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9456" y="1251811"/>
            <a:ext cx="7992888" cy="1470025"/>
          </a:xfrm>
        </p:spPr>
        <p:txBody>
          <a:bodyPr>
            <a:normAutofit/>
          </a:bodyPr>
          <a:lstStyle/>
          <a:p>
            <a:r>
              <a:rPr lang="en-US" dirty="0"/>
              <a:t>WMO WOUDC</a:t>
            </a:r>
            <a:br>
              <a:rPr lang="en-US" dirty="0"/>
            </a:br>
            <a:r>
              <a:rPr lang="en-US" dirty="0"/>
              <a:t>Update</a:t>
            </a:r>
          </a:p>
        </p:txBody>
      </p:sp>
      <p:sp>
        <p:nvSpPr>
          <p:cNvPr id="3" name="Subtitle 2"/>
          <p:cNvSpPr>
            <a:spLocks noGrp="1"/>
          </p:cNvSpPr>
          <p:nvPr>
            <p:ph type="subTitle" idx="1"/>
          </p:nvPr>
        </p:nvSpPr>
        <p:spPr>
          <a:xfrm>
            <a:off x="1199456" y="3016853"/>
            <a:ext cx="4945470" cy="1914102"/>
          </a:xfrm>
        </p:spPr>
        <p:txBody>
          <a:bodyPr>
            <a:normAutofit/>
          </a:bodyPr>
          <a:lstStyle/>
          <a:p>
            <a:r>
              <a:rPr lang="en-US" dirty="0"/>
              <a:t>WMO SAG-O3-UV</a:t>
            </a:r>
          </a:p>
          <a:p>
            <a:r>
              <a:rPr lang="en-US" dirty="0"/>
              <a:t>2025-06-30</a:t>
            </a:r>
          </a:p>
        </p:txBody>
      </p:sp>
      <p:sp>
        <p:nvSpPr>
          <p:cNvPr id="4" name="Rectangle 3"/>
          <p:cNvSpPr/>
          <p:nvPr/>
        </p:nvSpPr>
        <p:spPr>
          <a:xfrm>
            <a:off x="407368" y="5301208"/>
            <a:ext cx="4572000" cy="1200329"/>
          </a:xfrm>
          <a:prstGeom prst="rect">
            <a:avLst/>
          </a:prstGeom>
        </p:spPr>
        <p:txBody>
          <a:bodyPr>
            <a:spAutoFit/>
          </a:bodyPr>
          <a:lstStyle/>
          <a:p>
            <a:r>
              <a:rPr lang="fr-CA" dirty="0"/>
              <a:t>Tom Kralidis and Kevin Ngai</a:t>
            </a:r>
            <a:endParaRPr lang="en-CA" dirty="0"/>
          </a:p>
          <a:p>
            <a:r>
              <a:rPr lang="en-CA" dirty="0"/>
              <a:t>Geospatial and Open Data Systems</a:t>
            </a:r>
          </a:p>
          <a:p>
            <a:r>
              <a:rPr lang="en-CA" dirty="0"/>
              <a:t>Meteorological Service of Canada</a:t>
            </a:r>
          </a:p>
          <a:p>
            <a:r>
              <a:rPr lang="en-CA" dirty="0"/>
              <a:t>Environment and Climate Change Canada</a:t>
            </a:r>
          </a:p>
        </p:txBody>
      </p:sp>
      <p:pic>
        <p:nvPicPr>
          <p:cNvPr id="5" name="Picture 4">
            <a:extLst>
              <a:ext uri="{FF2B5EF4-FFF2-40B4-BE49-F238E27FC236}">
                <a16:creationId xmlns:a16="http://schemas.microsoft.com/office/drawing/2014/main" id="{5D8CAE36-8140-5DDA-4B05-2A7A5C6E2348}"/>
              </a:ext>
            </a:extLst>
          </p:cNvPr>
          <p:cNvPicPr>
            <a:picLocks noChangeAspect="1"/>
          </p:cNvPicPr>
          <p:nvPr/>
        </p:nvPicPr>
        <p:blipFill>
          <a:blip r:embed="rId2"/>
          <a:stretch>
            <a:fillRect/>
          </a:stretch>
        </p:blipFill>
        <p:spPr>
          <a:xfrm>
            <a:off x="5951984" y="188640"/>
            <a:ext cx="5909837" cy="3785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WMO WOUDC Update</a:t>
            </a:r>
          </a:p>
        </p:txBody>
      </p:sp>
      <p:sp>
        <p:nvSpPr>
          <p:cNvPr id="3" name="Content Placeholder 2"/>
          <p:cNvSpPr>
            <a:spLocks noGrp="1"/>
          </p:cNvSpPr>
          <p:nvPr>
            <p:ph idx="1"/>
          </p:nvPr>
        </p:nvSpPr>
        <p:spPr/>
        <p:txBody>
          <a:bodyPr/>
          <a:lstStyle/>
          <a:p>
            <a:r>
              <a:rPr lang="en-US" dirty="0"/>
              <a:t>Data Centre status</a:t>
            </a:r>
          </a:p>
          <a:p>
            <a:r>
              <a:rPr lang="en-US" dirty="0"/>
              <a:t>Standard operating procedures</a:t>
            </a:r>
          </a:p>
          <a:p>
            <a:r>
              <a:rPr lang="en-US" dirty="0"/>
              <a:t>2024 by the numbers</a:t>
            </a:r>
          </a:p>
          <a:p>
            <a:r>
              <a:rPr lang="en-US" dirty="0"/>
              <a:t>WOUDC 2.0 updates</a:t>
            </a:r>
          </a:p>
        </p:txBody>
      </p:sp>
      <p:sp>
        <p:nvSpPr>
          <p:cNvPr id="4" name="Slide Number Placeholder 3"/>
          <p:cNvSpPr>
            <a:spLocks noGrp="1"/>
          </p:cNvSpPr>
          <p:nvPr>
            <p:ph type="sldNum" sz="quarter" idx="12"/>
          </p:nvPr>
        </p:nvSpPr>
        <p:spPr/>
        <p:txBody>
          <a:bodyPr/>
          <a:lstStyle/>
          <a:p>
            <a:fld id="{5CE84AB2-A68C-446D-B258-F807154688F9}" type="slidenum">
              <a:rPr lang="en-US" smtClean="0"/>
              <a:t>2</a:t>
            </a:fld>
            <a:endParaRPr lang="en-US" dirty="0"/>
          </a:p>
        </p:txBody>
      </p:sp>
      <p:sp>
        <p:nvSpPr>
          <p:cNvPr id="5" name="Date Placeholder 4"/>
          <p:cNvSpPr>
            <a:spLocks noGrp="1"/>
          </p:cNvSpPr>
          <p:nvPr>
            <p:ph type="dt" sz="half" idx="10"/>
          </p:nvPr>
        </p:nvSpPr>
        <p:spPr/>
        <p:txBody>
          <a:bodyPr/>
          <a:lstStyle/>
          <a:p>
            <a:fld id="{0FFE5827-96C7-46D5-AA4A-AEAFFB718B27}" type="datetime1">
              <a:rPr lang="en-US" smtClean="0"/>
              <a:t>7/7/25</a:t>
            </a:fld>
            <a:endParaRPr lang="en-US" dirty="0"/>
          </a:p>
        </p:txBody>
      </p:sp>
    </p:spTree>
    <p:extLst>
      <p:ext uri="{BB962C8B-B14F-4D97-AF65-F5344CB8AC3E}">
        <p14:creationId xmlns:p14="http://schemas.microsoft.com/office/powerpoint/2010/main" val="195508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 Centre Status</a:t>
            </a:r>
          </a:p>
        </p:txBody>
      </p:sp>
      <p:sp>
        <p:nvSpPr>
          <p:cNvPr id="3" name="Content Placeholder 2"/>
          <p:cNvSpPr>
            <a:spLocks noGrp="1"/>
          </p:cNvSpPr>
          <p:nvPr>
            <p:ph idx="1"/>
          </p:nvPr>
        </p:nvSpPr>
        <p:spPr/>
        <p:txBody>
          <a:bodyPr>
            <a:normAutofit/>
          </a:bodyPr>
          <a:lstStyle/>
          <a:p>
            <a:r>
              <a:rPr lang="en-CA" dirty="0"/>
              <a:t>Meteorological Service of Canada</a:t>
            </a:r>
          </a:p>
          <a:p>
            <a:r>
              <a:rPr lang="en-CA" dirty="0"/>
              <a:t>Collaboration with ECCC Science and Technology Branch</a:t>
            </a:r>
          </a:p>
          <a:p>
            <a:r>
              <a:rPr lang="en-CA" dirty="0"/>
              <a:t>WMO reporting</a:t>
            </a:r>
          </a:p>
          <a:p>
            <a:pPr lvl="1"/>
            <a:r>
              <a:rPr lang="en-CA" dirty="0"/>
              <a:t>SAG on Ozone/UV</a:t>
            </a:r>
          </a:p>
          <a:p>
            <a:pPr lvl="1"/>
            <a:r>
              <a:rPr lang="en-CA" dirty="0"/>
              <a:t>WMO Expert Team on Atmospheric Composition Data Management</a:t>
            </a:r>
          </a:p>
          <a:p>
            <a:pPr lvl="2"/>
            <a:r>
              <a:rPr lang="en-CA" dirty="0"/>
              <a:t>formerly ET on World Data Centres (ET-WDC)</a:t>
            </a:r>
          </a:p>
          <a:p>
            <a:pPr lvl="1"/>
            <a:r>
              <a:rPr lang="en-CA" dirty="0"/>
              <a:t>Data Centre Interoperability (DCIO)</a:t>
            </a:r>
          </a:p>
          <a:p>
            <a:pPr marL="457200" lvl="1" indent="0">
              <a:buNone/>
            </a:pPr>
            <a:endParaRPr lang="en-CA" dirty="0"/>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3</a:t>
            </a:fld>
            <a:endParaRPr lang="en-US" altLang="en-US" dirty="0"/>
          </a:p>
        </p:txBody>
      </p:sp>
    </p:spTree>
    <p:extLst>
      <p:ext uri="{BB962C8B-B14F-4D97-AF65-F5344CB8AC3E}">
        <p14:creationId xmlns:p14="http://schemas.microsoft.com/office/powerpoint/2010/main" val="406882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 Centre Status</a:t>
            </a:r>
          </a:p>
        </p:txBody>
      </p:sp>
      <p:sp>
        <p:nvSpPr>
          <p:cNvPr id="3" name="Content Placeholder 2"/>
          <p:cNvSpPr>
            <a:spLocks noGrp="1"/>
          </p:cNvSpPr>
          <p:nvPr>
            <p:ph idx="1"/>
          </p:nvPr>
        </p:nvSpPr>
        <p:spPr/>
        <p:txBody>
          <a:bodyPr>
            <a:normAutofit lnSpcReduction="10000"/>
          </a:bodyPr>
          <a:lstStyle/>
          <a:p>
            <a:r>
              <a:rPr lang="en-CA" dirty="0"/>
              <a:t>2015: renewal (WOUDC 1.0)</a:t>
            </a:r>
          </a:p>
          <a:p>
            <a:r>
              <a:rPr lang="en-CA" dirty="0"/>
              <a:t>2025: platform upgrade (WOUDC 2.0)</a:t>
            </a:r>
          </a:p>
          <a:p>
            <a:r>
              <a:rPr lang="en-CA" dirty="0"/>
              <a:t>Current operations</a:t>
            </a:r>
          </a:p>
          <a:p>
            <a:pPr lvl="1"/>
            <a:r>
              <a:rPr lang="en-CA" dirty="0"/>
              <a:t>Contributor support</a:t>
            </a:r>
          </a:p>
          <a:p>
            <a:pPr lvl="1"/>
            <a:r>
              <a:rPr lang="en-CA" dirty="0"/>
              <a:t>User support</a:t>
            </a:r>
          </a:p>
          <a:p>
            <a:pPr lvl="1"/>
            <a:r>
              <a:rPr lang="en-CA" dirty="0"/>
              <a:t>Continuous data improvement</a:t>
            </a:r>
          </a:p>
          <a:p>
            <a:pPr lvl="2"/>
            <a:r>
              <a:rPr lang="en-CA" dirty="0"/>
              <a:t>Data ingest</a:t>
            </a:r>
          </a:p>
          <a:p>
            <a:pPr lvl="2"/>
            <a:r>
              <a:rPr lang="en-CA" dirty="0"/>
              <a:t>Metadata quality assessment / correction</a:t>
            </a:r>
          </a:p>
          <a:p>
            <a:pPr lvl="1"/>
            <a:r>
              <a:rPr lang="en-CA" dirty="0"/>
              <a:t>Enhancements</a:t>
            </a:r>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4</a:t>
            </a:fld>
            <a:endParaRPr lang="en-US" altLang="en-US" dirty="0"/>
          </a:p>
        </p:txBody>
      </p:sp>
    </p:spTree>
    <p:extLst>
      <p:ext uri="{BB962C8B-B14F-4D97-AF65-F5344CB8AC3E}">
        <p14:creationId xmlns:p14="http://schemas.microsoft.com/office/powerpoint/2010/main" val="282231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04B4-4187-D080-E707-DD24FCA256D1}"/>
              </a:ext>
            </a:extLst>
          </p:cNvPr>
          <p:cNvSpPr>
            <a:spLocks noGrp="1"/>
          </p:cNvSpPr>
          <p:nvPr>
            <p:ph type="title"/>
          </p:nvPr>
        </p:nvSpPr>
        <p:spPr/>
        <p:txBody>
          <a:bodyPr/>
          <a:lstStyle/>
          <a:p>
            <a:r>
              <a:rPr lang="en-US" dirty="0"/>
              <a:t>DATA CENTRE STATUS</a:t>
            </a:r>
            <a:endParaRPr lang="en-CA" dirty="0"/>
          </a:p>
        </p:txBody>
      </p:sp>
      <p:sp>
        <p:nvSpPr>
          <p:cNvPr id="3" name="Content Placeholder 2">
            <a:extLst>
              <a:ext uri="{FF2B5EF4-FFF2-40B4-BE49-F238E27FC236}">
                <a16:creationId xmlns:a16="http://schemas.microsoft.com/office/drawing/2014/main" id="{51DD69C2-4DA1-D967-6C88-2712B24F244B}"/>
              </a:ext>
            </a:extLst>
          </p:cNvPr>
          <p:cNvSpPr>
            <a:spLocks noGrp="1"/>
          </p:cNvSpPr>
          <p:nvPr>
            <p:ph idx="1"/>
          </p:nvPr>
        </p:nvSpPr>
        <p:spPr/>
        <p:txBody>
          <a:bodyPr>
            <a:normAutofit/>
          </a:bodyPr>
          <a:lstStyle/>
          <a:p>
            <a:r>
              <a:rPr lang="en-US" dirty="0"/>
              <a:t>2024-02-01 to 2024-03-14: Metrics server issue resulted in missing logs</a:t>
            </a:r>
          </a:p>
          <a:p>
            <a:r>
              <a:rPr lang="en-US" dirty="0"/>
              <a:t>WOUDC 2.0 implementation</a:t>
            </a:r>
          </a:p>
          <a:p>
            <a:r>
              <a:rPr lang="en-US" dirty="0"/>
              <a:t>Complete data re-ingest, numerous corrections:</a:t>
            </a:r>
          </a:p>
          <a:p>
            <a:pPr lvl="1"/>
            <a:r>
              <a:rPr lang="en-US" dirty="0"/>
              <a:t>Metadata QC</a:t>
            </a:r>
          </a:p>
          <a:p>
            <a:pPr lvl="1"/>
            <a:r>
              <a:rPr lang="en-US" dirty="0"/>
              <a:t>Data files updates (moving to various folders)</a:t>
            </a:r>
          </a:p>
          <a:p>
            <a:pPr lvl="1"/>
            <a:r>
              <a:rPr lang="en-US" dirty="0"/>
              <a:t>Discarded empty data files with contributor’s permission</a:t>
            </a:r>
          </a:p>
          <a:p>
            <a:pPr lvl="2"/>
            <a:r>
              <a:rPr lang="en-US" dirty="0"/>
              <a:t>Remaining empty files on the WAF are not ingested in WOUDC 2.0</a:t>
            </a:r>
          </a:p>
        </p:txBody>
      </p:sp>
      <p:sp>
        <p:nvSpPr>
          <p:cNvPr id="4" name="Slide Number Placeholder 3">
            <a:extLst>
              <a:ext uri="{FF2B5EF4-FFF2-40B4-BE49-F238E27FC236}">
                <a16:creationId xmlns:a16="http://schemas.microsoft.com/office/drawing/2014/main" id="{B8F5B4F9-9B11-23C5-944B-7465DE157FA9}"/>
              </a:ext>
            </a:extLst>
          </p:cNvPr>
          <p:cNvSpPr>
            <a:spLocks noGrp="1"/>
          </p:cNvSpPr>
          <p:nvPr>
            <p:ph type="sldNum" sz="quarter" idx="12"/>
          </p:nvPr>
        </p:nvSpPr>
        <p:spPr/>
        <p:txBody>
          <a:bodyPr/>
          <a:lstStyle/>
          <a:p>
            <a:fld id="{5CE84AB2-A68C-446D-B258-F807154688F9}" type="slidenum">
              <a:rPr lang="en-US" smtClean="0"/>
              <a:t>5</a:t>
            </a:fld>
            <a:endParaRPr lang="en-US" dirty="0"/>
          </a:p>
        </p:txBody>
      </p:sp>
    </p:spTree>
    <p:extLst>
      <p:ext uri="{BB962C8B-B14F-4D97-AF65-F5344CB8AC3E}">
        <p14:creationId xmlns:p14="http://schemas.microsoft.com/office/powerpoint/2010/main" val="525876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81E4-6CC9-3751-27C6-E77DDB9B7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E3057-4798-5028-A1DE-DBA0146B5B85}"/>
              </a:ext>
            </a:extLst>
          </p:cNvPr>
          <p:cNvSpPr>
            <a:spLocks noGrp="1"/>
          </p:cNvSpPr>
          <p:nvPr>
            <p:ph type="title"/>
          </p:nvPr>
        </p:nvSpPr>
        <p:spPr/>
        <p:txBody>
          <a:bodyPr/>
          <a:lstStyle/>
          <a:p>
            <a:r>
              <a:rPr lang="en-US" dirty="0"/>
              <a:t>Standard operating procedures</a:t>
            </a:r>
            <a:endParaRPr lang="en-CA" dirty="0"/>
          </a:p>
        </p:txBody>
      </p:sp>
      <p:sp>
        <p:nvSpPr>
          <p:cNvPr id="3" name="Content Placeholder 2">
            <a:extLst>
              <a:ext uri="{FF2B5EF4-FFF2-40B4-BE49-F238E27FC236}">
                <a16:creationId xmlns:a16="http://schemas.microsoft.com/office/drawing/2014/main" id="{547347F2-8DB3-1BF1-1C0E-6BED21D5B210}"/>
              </a:ext>
            </a:extLst>
          </p:cNvPr>
          <p:cNvSpPr>
            <a:spLocks noGrp="1"/>
          </p:cNvSpPr>
          <p:nvPr>
            <p:ph idx="1"/>
          </p:nvPr>
        </p:nvSpPr>
        <p:spPr/>
        <p:txBody>
          <a:bodyPr>
            <a:normAutofit/>
          </a:bodyPr>
          <a:lstStyle/>
          <a:p>
            <a:r>
              <a:rPr lang="en-US" dirty="0"/>
              <a:t>Submissions, contact validation, metadata QC ongoing, unchanged</a:t>
            </a:r>
          </a:p>
          <a:p>
            <a:pPr lvl="1"/>
            <a:r>
              <a:rPr lang="en-US" dirty="0"/>
              <a:t>See Annex for details</a:t>
            </a:r>
          </a:p>
          <a:p>
            <a:r>
              <a:rPr lang="en-US" dirty="0"/>
              <a:t>WOUDC Guidebook: </a:t>
            </a:r>
            <a:r>
              <a:rPr lang="en-US" dirty="0">
                <a:hlinkClick r:id="rId2"/>
              </a:rPr>
              <a:t>guide.woudc.org</a:t>
            </a:r>
            <a:endParaRPr lang="en-US" dirty="0"/>
          </a:p>
        </p:txBody>
      </p:sp>
      <p:sp>
        <p:nvSpPr>
          <p:cNvPr id="4" name="Slide Number Placeholder 3">
            <a:extLst>
              <a:ext uri="{FF2B5EF4-FFF2-40B4-BE49-F238E27FC236}">
                <a16:creationId xmlns:a16="http://schemas.microsoft.com/office/drawing/2014/main" id="{361DB03E-8424-FD9D-5C92-BEB6C00A1D7E}"/>
              </a:ext>
            </a:extLst>
          </p:cNvPr>
          <p:cNvSpPr>
            <a:spLocks noGrp="1"/>
          </p:cNvSpPr>
          <p:nvPr>
            <p:ph type="sldNum" sz="quarter" idx="12"/>
          </p:nvPr>
        </p:nvSpPr>
        <p:spPr/>
        <p:txBody>
          <a:bodyPr/>
          <a:lstStyle/>
          <a:p>
            <a:fld id="{5CE84AB2-A68C-446D-B258-F807154688F9}" type="slidenum">
              <a:rPr lang="en-US" smtClean="0"/>
              <a:t>6</a:t>
            </a:fld>
            <a:endParaRPr lang="en-US" dirty="0"/>
          </a:p>
        </p:txBody>
      </p:sp>
    </p:spTree>
    <p:extLst>
      <p:ext uri="{BB962C8B-B14F-4D97-AF65-F5344CB8AC3E}">
        <p14:creationId xmlns:p14="http://schemas.microsoft.com/office/powerpoint/2010/main" val="249401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Number of Files by Dataset (2025-06-27)</a:t>
            </a:r>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7</a:t>
            </a:fld>
            <a:endParaRPr lang="en-US" altLang="en-US" dirty="0"/>
          </a:p>
        </p:txBody>
      </p:sp>
      <p:graphicFrame>
        <p:nvGraphicFramePr>
          <p:cNvPr id="6" name="Table 5"/>
          <p:cNvGraphicFramePr>
            <a:graphicFrameLocks noGrp="1"/>
          </p:cNvGraphicFramePr>
          <p:nvPr>
            <p:extLst>
              <p:ext uri="{D42A27DB-BD31-4B8C-83A1-F6EECF244321}">
                <p14:modId xmlns:p14="http://schemas.microsoft.com/office/powerpoint/2010/main" val="794458581"/>
              </p:ext>
            </p:extLst>
          </p:nvPr>
        </p:nvGraphicFramePr>
        <p:xfrm>
          <a:off x="6168010" y="1121514"/>
          <a:ext cx="5612456" cy="5383260"/>
        </p:xfrm>
        <a:graphic>
          <a:graphicData uri="http://schemas.openxmlformats.org/drawingml/2006/table">
            <a:tbl>
              <a:tblPr/>
              <a:tblGrid>
                <a:gridCol w="3461575">
                  <a:extLst>
                    <a:ext uri="{9D8B030D-6E8A-4147-A177-3AD203B41FA5}">
                      <a16:colId xmlns:a16="http://schemas.microsoft.com/office/drawing/2014/main" val="20000"/>
                    </a:ext>
                  </a:extLst>
                </a:gridCol>
                <a:gridCol w="2150881">
                  <a:extLst>
                    <a:ext uri="{9D8B030D-6E8A-4147-A177-3AD203B41FA5}">
                      <a16:colId xmlns:a16="http://schemas.microsoft.com/office/drawing/2014/main" val="20001"/>
                    </a:ext>
                  </a:extLst>
                </a:gridCol>
              </a:tblGrid>
              <a:tr h="358884">
                <a:tc>
                  <a:txBody>
                    <a:bodyPr/>
                    <a:lstStyle/>
                    <a:p>
                      <a:pPr algn="l" fontAlgn="b"/>
                      <a:r>
                        <a:rPr lang="en-US" sz="2000" b="0" i="0" u="none" strike="noStrike" dirty="0">
                          <a:solidFill>
                            <a:srgbClr val="000000"/>
                          </a:solidFill>
                          <a:effectLst/>
                          <a:latin typeface="+mn-lt"/>
                        </a:rPr>
                        <a:t>Broad-band 1.0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172588</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358884">
                <a:tc>
                  <a:txBody>
                    <a:bodyPr/>
                    <a:lstStyle/>
                    <a:p>
                      <a:pPr algn="l" fontAlgn="b"/>
                      <a:r>
                        <a:rPr lang="en-US" sz="2000" b="0" i="0" u="none" strike="noStrike" dirty="0">
                          <a:solidFill>
                            <a:srgbClr val="000000"/>
                          </a:solidFill>
                          <a:effectLst/>
                          <a:latin typeface="+mn-lt"/>
                        </a:rPr>
                        <a:t>Broad-band 2.0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4084</a:t>
                      </a:r>
                    </a:p>
                  </a:txBody>
                  <a:tcPr marL="9525" marR="9525" marT="9525" marB="0" anchor="b">
                    <a:lnL>
                      <a:noFill/>
                    </a:lnL>
                    <a:lnR>
                      <a:noFill/>
                    </a:lnR>
                    <a:lnT>
                      <a:noFill/>
                    </a:lnT>
                    <a:lnB>
                      <a:noFill/>
                    </a:lnB>
                  </a:tcPr>
                </a:tc>
                <a:extLst>
                  <a:ext uri="{0D108BD9-81ED-4DB2-BD59-A6C34878D82A}">
                    <a16:rowId xmlns:a16="http://schemas.microsoft.com/office/drawing/2014/main" val="917356722"/>
                  </a:ext>
                </a:extLst>
              </a:tr>
              <a:tr h="358884">
                <a:tc>
                  <a:txBody>
                    <a:bodyPr/>
                    <a:lstStyle/>
                    <a:p>
                      <a:pPr algn="l" fontAlgn="b"/>
                      <a:r>
                        <a:rPr lang="en-US" sz="2000" b="0" i="0" u="none" strike="noStrike" dirty="0" err="1">
                          <a:solidFill>
                            <a:srgbClr val="000000"/>
                          </a:solidFill>
                          <a:effectLst/>
                          <a:latin typeface="+mn-lt"/>
                        </a:rPr>
                        <a:t>OzoneSonde</a:t>
                      </a:r>
                      <a:r>
                        <a:rPr lang="en-US" sz="2000" b="0" i="0" u="none" strike="noStrike" dirty="0">
                          <a:solidFill>
                            <a:srgbClr val="000000"/>
                          </a:solidFill>
                          <a:effectLst/>
                          <a:latin typeface="+mn-lt"/>
                        </a:rPr>
                        <a:t> 1.0 (form 1)</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100807</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358884">
                <a:tc>
                  <a:txBody>
                    <a:bodyPr/>
                    <a:lstStyle/>
                    <a:p>
                      <a:pPr algn="l" fontAlgn="b"/>
                      <a:r>
                        <a:rPr lang="en-US" sz="2000" b="0" i="0" u="none" strike="noStrike" dirty="0" err="1">
                          <a:solidFill>
                            <a:srgbClr val="000000"/>
                          </a:solidFill>
                          <a:effectLst/>
                          <a:latin typeface="+mn-lt"/>
                        </a:rPr>
                        <a:t>OzoneSonde</a:t>
                      </a:r>
                      <a:r>
                        <a:rPr lang="en-US" sz="2000" b="0" i="0" u="none" strike="noStrike" dirty="0">
                          <a:solidFill>
                            <a:srgbClr val="000000"/>
                          </a:solidFill>
                          <a:effectLst/>
                          <a:latin typeface="+mn-lt"/>
                        </a:rPr>
                        <a:t> 1.0 (form 2)</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1638</a:t>
                      </a:r>
                    </a:p>
                  </a:txBody>
                  <a:tcPr marL="9525" marR="9525" marT="9525" marB="0" anchor="b">
                    <a:lnL>
                      <a:noFill/>
                    </a:lnL>
                    <a:lnR>
                      <a:noFill/>
                    </a:lnR>
                    <a:lnT>
                      <a:noFill/>
                    </a:lnT>
                    <a:lnB>
                      <a:noFill/>
                    </a:lnB>
                  </a:tcPr>
                </a:tc>
                <a:extLst>
                  <a:ext uri="{0D108BD9-81ED-4DB2-BD59-A6C34878D82A}">
                    <a16:rowId xmlns:a16="http://schemas.microsoft.com/office/drawing/2014/main" val="3734582093"/>
                  </a:ext>
                </a:extLst>
              </a:tr>
              <a:tr h="358884">
                <a:tc>
                  <a:txBody>
                    <a:bodyPr/>
                    <a:lstStyle/>
                    <a:p>
                      <a:pPr algn="l" fontAlgn="b"/>
                      <a:r>
                        <a:rPr lang="en-US" sz="2000" b="0" i="0" u="none" strike="noStrike" dirty="0">
                          <a:solidFill>
                            <a:srgbClr val="000000"/>
                          </a:solidFill>
                          <a:effectLst/>
                          <a:latin typeface="+mn-lt"/>
                        </a:rPr>
                        <a:t>Lidar</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675</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358884">
                <a:tc>
                  <a:txBody>
                    <a:bodyPr/>
                    <a:lstStyle/>
                    <a:p>
                      <a:pPr algn="l" fontAlgn="b"/>
                      <a:r>
                        <a:rPr lang="en-US" sz="2000" b="0" i="0" u="none" strike="noStrike" dirty="0">
                          <a:solidFill>
                            <a:srgbClr val="000000"/>
                          </a:solidFill>
                          <a:effectLst/>
                          <a:latin typeface="+mn-lt"/>
                        </a:rPr>
                        <a:t>Multi-band</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93778</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358884">
                <a:tc>
                  <a:txBody>
                    <a:bodyPr/>
                    <a:lstStyle/>
                    <a:p>
                      <a:pPr algn="l" fontAlgn="b"/>
                      <a:r>
                        <a:rPr lang="en-US" sz="2000" b="0" i="0" u="none" strike="noStrike" dirty="0" err="1">
                          <a:solidFill>
                            <a:srgbClr val="000000"/>
                          </a:solidFill>
                          <a:effectLst/>
                          <a:latin typeface="+mn-lt"/>
                        </a:rPr>
                        <a:t>TotalOzoneObs</a:t>
                      </a:r>
                      <a:r>
                        <a:rPr lang="en-US" sz="2000" b="0" i="0" u="none" strike="noStrike" dirty="0">
                          <a:solidFill>
                            <a:srgbClr val="000000"/>
                          </a:solidFill>
                          <a:effectLst/>
                          <a:latin typeface="+mn-lt"/>
                        </a:rPr>
                        <a:t> 1.0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167255</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358884">
                <a:tc>
                  <a:txBody>
                    <a:bodyPr/>
                    <a:lstStyle/>
                    <a:p>
                      <a:pPr algn="l" fontAlgn="b"/>
                      <a:r>
                        <a:rPr lang="en-US" sz="2000" b="0" i="0" u="none" strike="noStrike" dirty="0" err="1">
                          <a:solidFill>
                            <a:srgbClr val="000000"/>
                          </a:solidFill>
                          <a:effectLst/>
                          <a:latin typeface="+mn-lt"/>
                        </a:rPr>
                        <a:t>TotalOzone</a:t>
                      </a:r>
                      <a:r>
                        <a:rPr lang="en-US" sz="2000" b="0" i="0" u="none" strike="noStrike" dirty="0">
                          <a:solidFill>
                            <a:srgbClr val="000000"/>
                          </a:solidFill>
                          <a:effectLst/>
                          <a:latin typeface="+mn-lt"/>
                        </a:rPr>
                        <a:t> 1.0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91874</a:t>
                      </a:r>
                    </a:p>
                  </a:txBody>
                  <a:tcPr marL="9525" marR="9525" marT="9525" marB="0" anchor="b">
                    <a:lnL>
                      <a:noFill/>
                    </a:lnL>
                    <a:lnR>
                      <a:noFill/>
                    </a:lnR>
                    <a:lnT>
                      <a:noFill/>
                    </a:lnT>
                    <a:lnB>
                      <a:noFill/>
                    </a:lnB>
                  </a:tcPr>
                </a:tc>
                <a:extLst>
                  <a:ext uri="{0D108BD9-81ED-4DB2-BD59-A6C34878D82A}">
                    <a16:rowId xmlns:a16="http://schemas.microsoft.com/office/drawing/2014/main" val="3203681032"/>
                  </a:ext>
                </a:extLst>
              </a:tr>
              <a:tr h="358884">
                <a:tc>
                  <a:txBody>
                    <a:bodyPr/>
                    <a:lstStyle/>
                    <a:p>
                      <a:pPr algn="l" fontAlgn="b"/>
                      <a:r>
                        <a:rPr lang="en-US" sz="2000" b="0" i="0" u="none" strike="noStrike" dirty="0" err="1">
                          <a:solidFill>
                            <a:srgbClr val="000000"/>
                          </a:solidFill>
                          <a:effectLst/>
                          <a:latin typeface="+mn-lt"/>
                        </a:rPr>
                        <a:t>TotalOzone</a:t>
                      </a:r>
                      <a:r>
                        <a:rPr lang="en-US" sz="2000" b="0" i="0" u="none" strike="noStrike" dirty="0">
                          <a:solidFill>
                            <a:srgbClr val="000000"/>
                          </a:solidFill>
                          <a:effectLst/>
                          <a:latin typeface="+mn-lt"/>
                        </a:rPr>
                        <a:t> 2.0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494</a:t>
                      </a:r>
                    </a:p>
                  </a:txBody>
                  <a:tcPr marL="9525" marR="9525" marT="9525" marB="0" anchor="b">
                    <a:lnL>
                      <a:noFill/>
                    </a:lnL>
                    <a:lnR>
                      <a:noFill/>
                    </a:lnR>
                    <a:lnT>
                      <a:noFill/>
                    </a:lnT>
                    <a:lnB>
                      <a:noFill/>
                    </a:lnB>
                  </a:tcPr>
                </a:tc>
                <a:extLst>
                  <a:ext uri="{0D108BD9-81ED-4DB2-BD59-A6C34878D82A}">
                    <a16:rowId xmlns:a16="http://schemas.microsoft.com/office/drawing/2014/main" val="2812062652"/>
                  </a:ext>
                </a:extLst>
              </a:tr>
              <a:tr h="358884">
                <a:tc>
                  <a:txBody>
                    <a:bodyPr/>
                    <a:lstStyle/>
                    <a:p>
                      <a:pPr algn="l" fontAlgn="b"/>
                      <a:r>
                        <a:rPr lang="en-US" sz="2000" b="0" i="0" u="none" strike="noStrike" dirty="0">
                          <a:solidFill>
                            <a:srgbClr val="000000"/>
                          </a:solidFill>
                          <a:effectLst/>
                          <a:latin typeface="+mn-lt"/>
                        </a:rPr>
                        <a:t>Spectral 1.0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325286</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358884">
                <a:tc>
                  <a:txBody>
                    <a:bodyPr/>
                    <a:lstStyle/>
                    <a:p>
                      <a:pPr algn="l" fontAlgn="b"/>
                      <a:r>
                        <a:rPr lang="en-US" sz="2000" b="0" i="0" u="none" strike="noStrike" dirty="0">
                          <a:solidFill>
                            <a:srgbClr val="000000"/>
                          </a:solidFill>
                          <a:effectLst/>
                          <a:latin typeface="+mn-lt"/>
                        </a:rPr>
                        <a:t>Spectral 2.0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4050</a:t>
                      </a:r>
                    </a:p>
                  </a:txBody>
                  <a:tcPr marL="9525" marR="9525" marT="9525" marB="0" anchor="b">
                    <a:lnL>
                      <a:noFill/>
                    </a:lnL>
                    <a:lnR>
                      <a:noFill/>
                    </a:lnR>
                    <a:lnT>
                      <a:noFill/>
                    </a:lnT>
                    <a:lnB>
                      <a:noFill/>
                    </a:lnB>
                  </a:tcPr>
                </a:tc>
                <a:extLst>
                  <a:ext uri="{0D108BD9-81ED-4DB2-BD59-A6C34878D82A}">
                    <a16:rowId xmlns:a16="http://schemas.microsoft.com/office/drawing/2014/main" val="2739975645"/>
                  </a:ext>
                </a:extLst>
              </a:tr>
              <a:tr h="358884">
                <a:tc>
                  <a:txBody>
                    <a:bodyPr/>
                    <a:lstStyle/>
                    <a:p>
                      <a:pPr algn="l" fontAlgn="b"/>
                      <a:r>
                        <a:rPr lang="en-US" sz="2000" b="0" i="0" u="none" strike="noStrike" dirty="0">
                          <a:solidFill>
                            <a:srgbClr val="000000"/>
                          </a:solidFill>
                          <a:effectLst/>
                          <a:latin typeface="+mn-lt"/>
                        </a:rPr>
                        <a:t>UmkehrN14 1.0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10886</a:t>
                      </a:r>
                    </a:p>
                  </a:txBody>
                  <a:tcPr marL="9525" marR="9525" marT="9525" marB="0" anchor="b">
                    <a:lnL>
                      <a:noFill/>
                    </a:lnL>
                    <a:lnR>
                      <a:noFill/>
                    </a:lnR>
                    <a:lnT>
                      <a:noFill/>
                    </a:lnT>
                    <a:lnB>
                      <a:noFill/>
                    </a:lnB>
                  </a:tcPr>
                </a:tc>
                <a:extLst>
                  <a:ext uri="{0D108BD9-81ED-4DB2-BD59-A6C34878D82A}">
                    <a16:rowId xmlns:a16="http://schemas.microsoft.com/office/drawing/2014/main" val="345224652"/>
                  </a:ext>
                </a:extLst>
              </a:tr>
              <a:tr h="358884">
                <a:tc>
                  <a:txBody>
                    <a:bodyPr/>
                    <a:lstStyle/>
                    <a:p>
                      <a:pPr algn="l" fontAlgn="b"/>
                      <a:r>
                        <a:rPr lang="en-US" sz="2000" b="0" i="0" u="none" strike="noStrike" dirty="0">
                          <a:solidFill>
                            <a:srgbClr val="000000"/>
                          </a:solidFill>
                          <a:effectLst/>
                          <a:latin typeface="+mn-lt"/>
                        </a:rPr>
                        <a:t>UmkehrN14 2.0</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10240</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358884">
                <a:tc>
                  <a:txBody>
                    <a:bodyPr/>
                    <a:lstStyle/>
                    <a:p>
                      <a:pPr algn="l" fontAlgn="b"/>
                      <a:r>
                        <a:rPr lang="en-US" sz="2000" b="0" i="0" u="none" strike="noStrike" dirty="0">
                          <a:solidFill>
                            <a:srgbClr val="000000"/>
                          </a:solidFill>
                          <a:effectLst/>
                          <a:latin typeface="+mn-lt"/>
                        </a:rPr>
                        <a:t>RocketSonde</a:t>
                      </a:r>
                    </a:p>
                  </a:txBody>
                  <a:tcPr marL="9525" marR="9525" marT="9525" marB="0" anchor="b">
                    <a:lnL>
                      <a:noFill/>
                    </a:lnL>
                    <a:lnR>
                      <a:noFill/>
                    </a:lnR>
                    <a:lnT>
                      <a:noFill/>
                    </a:lnT>
                    <a:lnB>
                      <a:noFill/>
                    </a:lnB>
                  </a:tcPr>
                </a:tc>
                <a:tc>
                  <a:txBody>
                    <a:bodyPr/>
                    <a:lstStyle/>
                    <a:p>
                      <a:pPr algn="r" fontAlgn="b"/>
                      <a:r>
                        <a:rPr lang="en-US" sz="2000" b="0" i="0" u="none" strike="noStrike" dirty="0">
                          <a:solidFill>
                            <a:srgbClr val="000000"/>
                          </a:solidFill>
                          <a:effectLst/>
                          <a:latin typeface="+mn-lt"/>
                        </a:rPr>
                        <a:t>176</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358884">
                <a:tc>
                  <a:txBody>
                    <a:bodyPr/>
                    <a:lstStyle/>
                    <a:p>
                      <a:pPr algn="l" fontAlgn="b"/>
                      <a:r>
                        <a:rPr lang="en-US" sz="2000" b="1" i="0" u="none" strike="noStrike" dirty="0">
                          <a:solidFill>
                            <a:srgbClr val="000000"/>
                          </a:solidFill>
                          <a:effectLst/>
                          <a:latin typeface="+mn-lt"/>
                        </a:rPr>
                        <a:t>TOTAL</a:t>
                      </a:r>
                    </a:p>
                  </a:txBody>
                  <a:tcPr marL="9525" marR="9525" marT="9525" marB="0" anchor="b">
                    <a:lnL>
                      <a:noFill/>
                    </a:lnL>
                    <a:lnR>
                      <a:noFill/>
                    </a:lnR>
                    <a:lnT>
                      <a:noFill/>
                    </a:lnT>
                    <a:lnB>
                      <a:noFill/>
                    </a:lnB>
                  </a:tcPr>
                </a:tc>
                <a:tc>
                  <a:txBody>
                    <a:bodyPr/>
                    <a:lstStyle/>
                    <a:p>
                      <a:pPr algn="r" fontAlgn="b"/>
                      <a:r>
                        <a:rPr lang="en-US" sz="2000" b="1" i="0" u="none" strike="noStrike" dirty="0">
                          <a:solidFill>
                            <a:srgbClr val="000000"/>
                          </a:solidFill>
                          <a:effectLst/>
                          <a:latin typeface="+mn-lt"/>
                        </a:rPr>
                        <a:t>983821</a:t>
                      </a:r>
                    </a:p>
                  </a:txBody>
                  <a:tcPr marL="9525" marR="9525" marT="9525" marB="0" anchor="b">
                    <a:lnL>
                      <a:noFill/>
                    </a:lnL>
                    <a:lnR>
                      <a:noFill/>
                    </a:lnR>
                    <a:lnT>
                      <a:noFill/>
                    </a:lnT>
                    <a:lnB>
                      <a:noFill/>
                    </a:lnB>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E8AA6B46-4FF3-CD2C-F08F-5397349695CE}"/>
              </a:ext>
            </a:extLst>
          </p:cNvPr>
          <p:cNvSpPr txBox="1"/>
          <p:nvPr/>
        </p:nvSpPr>
        <p:spPr>
          <a:xfrm>
            <a:off x="339526" y="1383928"/>
            <a:ext cx="5684466" cy="523220"/>
          </a:xfrm>
          <a:prstGeom prst="rect">
            <a:avLst/>
          </a:prstGeom>
          <a:noFill/>
        </p:spPr>
        <p:txBody>
          <a:bodyPr wrap="square" rtlCol="0">
            <a:spAutoFit/>
          </a:bodyPr>
          <a:lstStyle/>
          <a:p>
            <a:r>
              <a:rPr lang="en-US" sz="2800" dirty="0"/>
              <a:t>471 stations (duplicates removed)</a:t>
            </a:r>
          </a:p>
        </p:txBody>
      </p:sp>
      <p:pic>
        <p:nvPicPr>
          <p:cNvPr id="5" name="Picture 4">
            <a:extLst>
              <a:ext uri="{FF2B5EF4-FFF2-40B4-BE49-F238E27FC236}">
                <a16:creationId xmlns:a16="http://schemas.microsoft.com/office/drawing/2014/main" id="{5D7B723C-A2FD-3C42-D0EA-B71B1E322963}"/>
              </a:ext>
            </a:extLst>
          </p:cNvPr>
          <p:cNvPicPr>
            <a:picLocks noChangeAspect="1"/>
          </p:cNvPicPr>
          <p:nvPr/>
        </p:nvPicPr>
        <p:blipFill>
          <a:blip r:embed="rId2"/>
          <a:stretch>
            <a:fillRect/>
          </a:stretch>
        </p:blipFill>
        <p:spPr>
          <a:xfrm>
            <a:off x="1667390" y="2084640"/>
            <a:ext cx="4428610" cy="4094221"/>
          </a:xfrm>
          <a:prstGeom prst="rect">
            <a:avLst/>
          </a:prstGeom>
        </p:spPr>
      </p:pic>
    </p:spTree>
    <p:extLst>
      <p:ext uri="{BB962C8B-B14F-4D97-AF65-F5344CB8AC3E}">
        <p14:creationId xmlns:p14="http://schemas.microsoft.com/office/powerpoint/2010/main" val="435778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F69EA-031C-6366-A06E-B08320F5572E}"/>
              </a:ext>
            </a:extLst>
          </p:cNvPr>
          <p:cNvSpPr>
            <a:spLocks noGrp="1"/>
          </p:cNvSpPr>
          <p:nvPr>
            <p:ph idx="1"/>
          </p:nvPr>
        </p:nvSpPr>
        <p:spPr>
          <a:xfrm>
            <a:off x="911424" y="476672"/>
            <a:ext cx="5256584" cy="4525963"/>
          </a:xfrm>
        </p:spPr>
        <p:txBody>
          <a:bodyPr/>
          <a:lstStyle/>
          <a:p>
            <a:pPr marL="0" indent="0">
              <a:buNone/>
            </a:pPr>
            <a:r>
              <a:rPr lang="en-CA" sz="3600" b="1" dirty="0"/>
              <a:t>NEW CONTRIBUTORS</a:t>
            </a:r>
          </a:p>
          <a:p>
            <a:endParaRPr lang="en-CA" sz="1800" dirty="0">
              <a:effectLst/>
              <a:latin typeface="Calibri" panose="020F0502020204030204" pitchFamily="34" charset="0"/>
              <a:ea typeface="Aptos" panose="020B0004020202020204" pitchFamily="34" charset="0"/>
            </a:endParaRPr>
          </a:p>
          <a:p>
            <a:r>
              <a:rPr lang="en-US" sz="1800" dirty="0">
                <a:effectLst/>
                <a:latin typeface="Calibri" panose="020F0502020204030204" pitchFamily="34" charset="0"/>
                <a:ea typeface="Aptos" panose="020B0004020202020204" pitchFamily="34" charset="0"/>
              </a:rPr>
              <a:t>National Agency of Civil Aviation and Meteorology (</a:t>
            </a:r>
            <a:r>
              <a:rPr lang="en-CA" sz="1800" dirty="0">
                <a:effectLst/>
                <a:latin typeface="Calibri" panose="020F0502020204030204" pitchFamily="34" charset="0"/>
                <a:ea typeface="Aptos" panose="020B0004020202020204" pitchFamily="34" charset="0"/>
              </a:rPr>
              <a:t>Comoros)</a:t>
            </a:r>
          </a:p>
          <a:p>
            <a:r>
              <a:rPr lang="en-CA" sz="1800" dirty="0">
                <a:effectLst/>
                <a:latin typeface="Calibri" panose="020F0502020204030204" pitchFamily="34" charset="0"/>
                <a:ea typeface="Aptos" panose="020B0004020202020204" pitchFamily="34" charset="0"/>
              </a:rPr>
              <a:t>Hokkaido University (Japan)</a:t>
            </a:r>
          </a:p>
          <a:p>
            <a:r>
              <a:rPr lang="en-US" sz="1800" dirty="0">
                <a:latin typeface="Calibri" panose="020F0502020204030204" pitchFamily="34" charset="0"/>
                <a:ea typeface="Aptos" panose="020B0004020202020204" pitchFamily="34" charset="0"/>
              </a:rPr>
              <a:t>Center of Atmospheric Watch and service, China Meteorological Administration (China)</a:t>
            </a:r>
            <a:endParaRPr lang="en-CA" sz="1800" dirty="0">
              <a:effectLst/>
              <a:latin typeface="Calibri" panose="020F0502020204030204" pitchFamily="34" charset="0"/>
              <a:ea typeface="Aptos" panose="020B0004020202020204" pitchFamily="34" charset="0"/>
            </a:endParaRPr>
          </a:p>
          <a:p>
            <a:r>
              <a:rPr lang="en-US" sz="1800" dirty="0">
                <a:effectLst/>
                <a:latin typeface="Calibri" panose="020F0502020204030204" pitchFamily="34" charset="0"/>
                <a:ea typeface="Aptos" panose="020B0004020202020204" pitchFamily="34" charset="0"/>
              </a:rPr>
              <a:t>Yunnan University (China)</a:t>
            </a:r>
          </a:p>
          <a:p>
            <a:r>
              <a:rPr lang="en-US" sz="1800" dirty="0">
                <a:effectLst/>
                <a:latin typeface="Calibri" panose="020F0502020204030204" pitchFamily="34" charset="0"/>
                <a:ea typeface="Aptos" panose="020B0004020202020204" pitchFamily="34" charset="0"/>
              </a:rPr>
              <a:t>Center of Excellence </a:t>
            </a:r>
            <a:r>
              <a:rPr lang="en-US" sz="1800" dirty="0" err="1">
                <a:effectLst/>
                <a:latin typeface="Calibri" panose="020F0502020204030204" pitchFamily="34" charset="0"/>
                <a:ea typeface="Aptos" panose="020B0004020202020204" pitchFamily="34" charset="0"/>
              </a:rPr>
              <a:t>Telesensing</a:t>
            </a:r>
            <a:r>
              <a:rPr lang="en-US" sz="1800" dirty="0">
                <a:effectLst/>
                <a:latin typeface="Calibri" panose="020F0502020204030204" pitchFamily="34" charset="0"/>
                <a:ea typeface="Aptos" panose="020B0004020202020204" pitchFamily="34" charset="0"/>
              </a:rPr>
              <a:t> of Environment and Model Prediction of Severe Events - University of L'Aquila </a:t>
            </a:r>
            <a:r>
              <a:rPr lang="it-IT" sz="1800" dirty="0">
                <a:effectLst/>
                <a:latin typeface="Calibri" panose="020F0502020204030204" pitchFamily="34" charset="0"/>
                <a:ea typeface="Aptos" panose="020B0004020202020204" pitchFamily="34" charset="0"/>
              </a:rPr>
              <a:t>(Italy)</a:t>
            </a:r>
          </a:p>
          <a:p>
            <a:r>
              <a:rPr lang="en-US" sz="1800" dirty="0">
                <a:latin typeface="Calibri" panose="020F0502020204030204" pitchFamily="34" charset="0"/>
                <a:ea typeface="Aptos" panose="020B0004020202020204" pitchFamily="34" charset="0"/>
              </a:rPr>
              <a:t>Uruguayan Institute of Meteorology (Uruguay) </a:t>
            </a:r>
          </a:p>
          <a:p>
            <a:pPr marL="0" indent="0">
              <a:buNone/>
            </a:pPr>
            <a:endParaRPr lang="en-US" sz="1800" dirty="0">
              <a:effectLst/>
              <a:latin typeface="Calibri" panose="020F0502020204030204" pitchFamily="34" charset="0"/>
              <a:ea typeface="Aptos" panose="020B0004020202020204" pitchFamily="34" charset="0"/>
            </a:endParaRPr>
          </a:p>
          <a:p>
            <a:endParaRPr lang="en-CA" sz="1800" dirty="0">
              <a:effectLst/>
              <a:latin typeface="Calibri" panose="020F0502020204030204" pitchFamily="34" charset="0"/>
              <a:ea typeface="Aptos" panose="020B0004020202020204" pitchFamily="34" charset="0"/>
            </a:endParaRPr>
          </a:p>
        </p:txBody>
      </p:sp>
      <p:sp>
        <p:nvSpPr>
          <p:cNvPr id="4" name="Slide Number Placeholder 3">
            <a:extLst>
              <a:ext uri="{FF2B5EF4-FFF2-40B4-BE49-F238E27FC236}">
                <a16:creationId xmlns:a16="http://schemas.microsoft.com/office/drawing/2014/main" id="{DDCB9F9D-E119-CB94-5333-C8D21CAFE644}"/>
              </a:ext>
            </a:extLst>
          </p:cNvPr>
          <p:cNvSpPr>
            <a:spLocks noGrp="1"/>
          </p:cNvSpPr>
          <p:nvPr>
            <p:ph type="sldNum" sz="quarter" idx="12"/>
          </p:nvPr>
        </p:nvSpPr>
        <p:spPr/>
        <p:txBody>
          <a:bodyPr/>
          <a:lstStyle/>
          <a:p>
            <a:fld id="{5CE84AB2-A68C-446D-B258-F807154688F9}" type="slidenum">
              <a:rPr lang="en-US" smtClean="0"/>
              <a:t>8</a:t>
            </a:fld>
            <a:endParaRPr lang="en-US" dirty="0"/>
          </a:p>
        </p:txBody>
      </p:sp>
      <p:sp>
        <p:nvSpPr>
          <p:cNvPr id="8" name="Content Placeholder 2">
            <a:extLst>
              <a:ext uri="{FF2B5EF4-FFF2-40B4-BE49-F238E27FC236}">
                <a16:creationId xmlns:a16="http://schemas.microsoft.com/office/drawing/2014/main" id="{BBDB9D7B-2203-7B22-9D76-4C73D8CFB2AE}"/>
              </a:ext>
            </a:extLst>
          </p:cNvPr>
          <p:cNvSpPr txBox="1">
            <a:spLocks/>
          </p:cNvSpPr>
          <p:nvPr/>
        </p:nvSpPr>
        <p:spPr>
          <a:xfrm>
            <a:off x="6678476" y="548680"/>
            <a:ext cx="411824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CA" sz="3600" b="1" dirty="0"/>
              <a:t>NEW STATIONS</a:t>
            </a:r>
          </a:p>
          <a:p>
            <a:endParaRPr lang="en-CA" sz="1800" dirty="0">
              <a:latin typeface="Calibri" panose="020F0502020204030204" pitchFamily="34" charset="0"/>
              <a:ea typeface="Aptos" panose="020B0004020202020204" pitchFamily="34" charset="0"/>
            </a:endParaRPr>
          </a:p>
          <a:p>
            <a:r>
              <a:rPr lang="en-CA" sz="1800" dirty="0">
                <a:latin typeface="Calibri" panose="020F0502020204030204" pitchFamily="34" charset="0"/>
                <a:ea typeface="Aptos" panose="020B0004020202020204" pitchFamily="34" charset="0"/>
              </a:rPr>
              <a:t>Moroni</a:t>
            </a:r>
          </a:p>
          <a:p>
            <a:r>
              <a:rPr lang="en-CA" sz="1800" dirty="0" err="1">
                <a:latin typeface="Calibri" panose="020F0502020204030204" pitchFamily="34" charset="0"/>
                <a:ea typeface="Aptos" panose="020B0004020202020204" pitchFamily="34" charset="0"/>
              </a:rPr>
              <a:t>Akedala</a:t>
            </a:r>
            <a:endParaRPr lang="en-CA" sz="1800" dirty="0">
              <a:latin typeface="Calibri" panose="020F0502020204030204" pitchFamily="34" charset="0"/>
              <a:ea typeface="Aptos" panose="020B0004020202020204" pitchFamily="34" charset="0"/>
            </a:endParaRPr>
          </a:p>
          <a:p>
            <a:r>
              <a:rPr lang="en-CA" sz="1800" dirty="0" err="1">
                <a:latin typeface="Calibri" panose="020F0502020204030204" pitchFamily="34" charset="0"/>
                <a:ea typeface="Aptos" panose="020B0004020202020204" pitchFamily="34" charset="0"/>
              </a:rPr>
              <a:t>Shangdianzi</a:t>
            </a:r>
            <a:endParaRPr lang="en-CA" sz="1800" dirty="0">
              <a:latin typeface="Calibri" panose="020F0502020204030204" pitchFamily="34" charset="0"/>
              <a:ea typeface="Aptos" panose="020B0004020202020204" pitchFamily="34" charset="0"/>
            </a:endParaRPr>
          </a:p>
          <a:p>
            <a:r>
              <a:rPr lang="en-CA" sz="1800" dirty="0">
                <a:latin typeface="Calibri" panose="020F0502020204030204" pitchFamily="34" charset="0"/>
                <a:ea typeface="Aptos" panose="020B0004020202020204" pitchFamily="34" charset="0"/>
              </a:rPr>
              <a:t>Kunming</a:t>
            </a:r>
          </a:p>
          <a:p>
            <a:r>
              <a:rPr lang="en-CA" sz="1800" dirty="0">
                <a:latin typeface="Calibri" panose="020F0502020204030204" pitchFamily="34" charset="0"/>
                <a:ea typeface="Aptos" panose="020B0004020202020204" pitchFamily="34" charset="0"/>
              </a:rPr>
              <a:t>Casale Calore</a:t>
            </a:r>
          </a:p>
          <a:p>
            <a:r>
              <a:rPr lang="en-CA" sz="1800" dirty="0">
                <a:latin typeface="Calibri" panose="020F0502020204030204" pitchFamily="34" charset="0"/>
                <a:ea typeface="Aptos" panose="020B0004020202020204" pitchFamily="34" charset="0"/>
              </a:rPr>
              <a:t>Bharati</a:t>
            </a:r>
          </a:p>
          <a:p>
            <a:r>
              <a:rPr lang="en-CA" sz="1800" dirty="0">
                <a:latin typeface="Calibri" panose="020F0502020204030204" pitchFamily="34" charset="0"/>
                <a:ea typeface="Aptos" panose="020B0004020202020204" pitchFamily="34" charset="0"/>
              </a:rPr>
              <a:t>Hokkaido Sapporo University</a:t>
            </a:r>
          </a:p>
          <a:p>
            <a:r>
              <a:rPr lang="en-CA" sz="1800" dirty="0">
                <a:latin typeface="Calibri" panose="020F0502020204030204" pitchFamily="34" charset="0"/>
                <a:ea typeface="Aptos" panose="020B0004020202020204" pitchFamily="34" charset="0"/>
              </a:rPr>
              <a:t>Salto Grande [returned]</a:t>
            </a:r>
          </a:p>
        </p:txBody>
      </p:sp>
    </p:spTree>
    <p:extLst>
      <p:ext uri="{BB962C8B-B14F-4D97-AF65-F5344CB8AC3E}">
        <p14:creationId xmlns:p14="http://schemas.microsoft.com/office/powerpoint/2010/main" val="3451070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Processing Runs 2024</a:t>
            </a:r>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9</a:t>
            </a:fld>
            <a:endParaRPr lang="en-US" altLang="en-US" dirty="0"/>
          </a:p>
        </p:txBody>
      </p:sp>
      <p:graphicFrame>
        <p:nvGraphicFramePr>
          <p:cNvPr id="6" name="Table 5">
            <a:extLst>
              <a:ext uri="{FF2B5EF4-FFF2-40B4-BE49-F238E27FC236}">
                <a16:creationId xmlns:a16="http://schemas.microsoft.com/office/drawing/2014/main" id="{79A28B07-CB56-F39E-D7C8-062ED15536D1}"/>
              </a:ext>
            </a:extLst>
          </p:cNvPr>
          <p:cNvGraphicFramePr>
            <a:graphicFrameLocks noGrp="1"/>
          </p:cNvGraphicFramePr>
          <p:nvPr>
            <p:extLst>
              <p:ext uri="{D42A27DB-BD31-4B8C-83A1-F6EECF244321}">
                <p14:modId xmlns:p14="http://schemas.microsoft.com/office/powerpoint/2010/main" val="1459681003"/>
              </p:ext>
            </p:extLst>
          </p:nvPr>
        </p:nvGraphicFramePr>
        <p:xfrm>
          <a:off x="609600" y="1417637"/>
          <a:ext cx="10972800" cy="4938710"/>
        </p:xfrm>
        <a:graphic>
          <a:graphicData uri="http://schemas.openxmlformats.org/drawingml/2006/table">
            <a:tbl>
              <a:tblPr>
                <a:tableStyleId>{5C22544A-7EE6-4342-B048-85BDC9FD1C3A}</a:tableStyleId>
              </a:tblPr>
              <a:tblGrid>
                <a:gridCol w="1269189">
                  <a:extLst>
                    <a:ext uri="{9D8B030D-6E8A-4147-A177-3AD203B41FA5}">
                      <a16:colId xmlns:a16="http://schemas.microsoft.com/office/drawing/2014/main" val="1411746738"/>
                    </a:ext>
                  </a:extLst>
                </a:gridCol>
                <a:gridCol w="1292868">
                  <a:extLst>
                    <a:ext uri="{9D8B030D-6E8A-4147-A177-3AD203B41FA5}">
                      <a16:colId xmlns:a16="http://schemas.microsoft.com/office/drawing/2014/main" val="2892473568"/>
                    </a:ext>
                  </a:extLst>
                </a:gridCol>
                <a:gridCol w="681951">
                  <a:extLst>
                    <a:ext uri="{9D8B030D-6E8A-4147-A177-3AD203B41FA5}">
                      <a16:colId xmlns:a16="http://schemas.microsoft.com/office/drawing/2014/main" val="3251998301"/>
                    </a:ext>
                  </a:extLst>
                </a:gridCol>
                <a:gridCol w="568294">
                  <a:extLst>
                    <a:ext uri="{9D8B030D-6E8A-4147-A177-3AD203B41FA5}">
                      <a16:colId xmlns:a16="http://schemas.microsoft.com/office/drawing/2014/main" val="1804471420"/>
                    </a:ext>
                  </a:extLst>
                </a:gridCol>
                <a:gridCol w="1463356">
                  <a:extLst>
                    <a:ext uri="{9D8B030D-6E8A-4147-A177-3AD203B41FA5}">
                      <a16:colId xmlns:a16="http://schemas.microsoft.com/office/drawing/2014/main" val="1575047210"/>
                    </a:ext>
                  </a:extLst>
                </a:gridCol>
                <a:gridCol w="2031649">
                  <a:extLst>
                    <a:ext uri="{9D8B030D-6E8A-4147-A177-3AD203B41FA5}">
                      <a16:colId xmlns:a16="http://schemas.microsoft.com/office/drawing/2014/main" val="3919691739"/>
                    </a:ext>
                  </a:extLst>
                </a:gridCol>
                <a:gridCol w="909271">
                  <a:extLst>
                    <a:ext uri="{9D8B030D-6E8A-4147-A177-3AD203B41FA5}">
                      <a16:colId xmlns:a16="http://schemas.microsoft.com/office/drawing/2014/main" val="2082173020"/>
                    </a:ext>
                  </a:extLst>
                </a:gridCol>
                <a:gridCol w="1917990">
                  <a:extLst>
                    <a:ext uri="{9D8B030D-6E8A-4147-A177-3AD203B41FA5}">
                      <a16:colId xmlns:a16="http://schemas.microsoft.com/office/drawing/2014/main" val="987188288"/>
                    </a:ext>
                  </a:extLst>
                </a:gridCol>
                <a:gridCol w="838232">
                  <a:extLst>
                    <a:ext uri="{9D8B030D-6E8A-4147-A177-3AD203B41FA5}">
                      <a16:colId xmlns:a16="http://schemas.microsoft.com/office/drawing/2014/main" val="2637942932"/>
                    </a:ext>
                  </a:extLst>
                </a:gridCol>
              </a:tblGrid>
              <a:tr h="352765">
                <a:tc>
                  <a:txBody>
                    <a:bodyPr/>
                    <a:lstStyle/>
                    <a:p>
                      <a:pPr algn="l" fontAlgn="b"/>
                      <a:r>
                        <a:rPr lang="en-CA" sz="1400" b="1" u="none" strike="noStrike" dirty="0">
                          <a:effectLst/>
                        </a:rPr>
                        <a:t>Month</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Total Files</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Passed</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Fixed</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Failed (</a:t>
                      </a:r>
                      <a:r>
                        <a:rPr lang="en-CA" sz="1400" b="1" u="none" strike="noStrike" dirty="0" err="1">
                          <a:effectLst/>
                        </a:rPr>
                        <a:t>extCSV</a:t>
                      </a:r>
                      <a:r>
                        <a:rPr lang="en-CA" sz="1400" b="1" u="none" strike="noStrike" dirty="0">
                          <a:effectLst/>
                        </a:rPr>
                        <a:t>)</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Failed (non-standard)</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 Passed</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 Passed With Fixes</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 Failed</a:t>
                      </a:r>
                      <a:endParaRPr lang="en-CA"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31625007"/>
                  </a:ext>
                </a:extLst>
              </a:tr>
              <a:tr h="352765">
                <a:tc>
                  <a:txBody>
                    <a:bodyPr/>
                    <a:lstStyle/>
                    <a:p>
                      <a:pPr algn="l" fontAlgn="b"/>
                      <a:r>
                        <a:rPr lang="en-CA" sz="1400" u="none" strike="noStrike">
                          <a:effectLst/>
                        </a:rPr>
                        <a:t>January</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1567</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1060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351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499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338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67.65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22.40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53.41</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41705155"/>
                  </a:ext>
                </a:extLst>
              </a:tr>
              <a:tr h="352765">
                <a:tc>
                  <a:txBody>
                    <a:bodyPr/>
                    <a:lstStyle/>
                    <a:p>
                      <a:pPr algn="l" fontAlgn="b"/>
                      <a:r>
                        <a:rPr lang="en-CA" sz="1400" u="none" strike="noStrike" dirty="0">
                          <a:effectLst/>
                        </a:rPr>
                        <a:t>February</a:t>
                      </a:r>
                      <a:endParaRPr lang="en-CA"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1189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768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296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421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57</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64.59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24.89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40.20</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956488"/>
                  </a:ext>
                </a:extLst>
              </a:tr>
              <a:tr h="352765">
                <a:tc>
                  <a:txBody>
                    <a:bodyPr/>
                    <a:lstStyle/>
                    <a:p>
                      <a:pPr algn="l" fontAlgn="b"/>
                      <a:r>
                        <a:rPr lang="en-CA" sz="1400" u="none" strike="noStrike">
                          <a:effectLst/>
                        </a:rPr>
                        <a:t>March</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1859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1538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293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326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125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82.73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15.76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24.26</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48105600"/>
                  </a:ext>
                </a:extLst>
              </a:tr>
              <a:tr h="352765">
                <a:tc>
                  <a:txBody>
                    <a:bodyPr/>
                    <a:lstStyle/>
                    <a:p>
                      <a:pPr algn="l" fontAlgn="b"/>
                      <a:r>
                        <a:rPr lang="en-CA" sz="1400" u="none" strike="noStrike">
                          <a:effectLst/>
                        </a:rPr>
                        <a:t>April</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3203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2517</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573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14</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78.58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0.66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18.33</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90528920"/>
                  </a:ext>
                </a:extLst>
              </a:tr>
              <a:tr h="352765">
                <a:tc>
                  <a:txBody>
                    <a:bodyPr/>
                    <a:lstStyle/>
                    <a:p>
                      <a:pPr algn="l" fontAlgn="b"/>
                      <a:r>
                        <a:rPr lang="en-CA" sz="1400" u="none" strike="noStrike">
                          <a:effectLst/>
                        </a:rPr>
                        <a:t>May</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5778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5392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215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386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93.32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3.72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7.23</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31850445"/>
                  </a:ext>
                </a:extLst>
              </a:tr>
              <a:tr h="352765">
                <a:tc>
                  <a:txBody>
                    <a:bodyPr/>
                    <a:lstStyle/>
                    <a:p>
                      <a:pPr algn="l" fontAlgn="b"/>
                      <a:r>
                        <a:rPr lang="en-CA" sz="1400" u="none" strike="noStrike">
                          <a:effectLst/>
                        </a:rPr>
                        <a:t>June</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3146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2825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819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284</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89.80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26.03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9.06</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98518198"/>
                  </a:ext>
                </a:extLst>
              </a:tr>
              <a:tr h="352765">
                <a:tc>
                  <a:txBody>
                    <a:bodyPr/>
                    <a:lstStyle/>
                    <a:p>
                      <a:pPr algn="l" fontAlgn="b"/>
                      <a:r>
                        <a:rPr lang="en-CA" sz="1400" u="none" strike="noStrike">
                          <a:effectLst/>
                        </a:rPr>
                        <a:t>July</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4056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2159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665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1885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1859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53.23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16.40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92.31</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34139249"/>
                  </a:ext>
                </a:extLst>
              </a:tr>
              <a:tr h="352765">
                <a:tc>
                  <a:txBody>
                    <a:bodyPr/>
                    <a:lstStyle/>
                    <a:p>
                      <a:pPr algn="l" fontAlgn="b"/>
                      <a:r>
                        <a:rPr lang="en-CA" sz="1400" u="none" strike="noStrike">
                          <a:effectLst/>
                        </a:rPr>
                        <a:t>August</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1956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735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1221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37.58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2.71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62.63</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87322868"/>
                  </a:ext>
                </a:extLst>
              </a:tr>
              <a:tr h="352765">
                <a:tc>
                  <a:txBody>
                    <a:bodyPr/>
                    <a:lstStyle/>
                    <a:p>
                      <a:pPr algn="l" fontAlgn="b"/>
                      <a:r>
                        <a:rPr lang="en-CA" sz="1400" u="none" strike="noStrike">
                          <a:effectLst/>
                        </a:rPr>
                        <a:t>September</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1328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1312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98.80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2.86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1.20</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20530172"/>
                  </a:ext>
                </a:extLst>
              </a:tr>
              <a:tr h="352765">
                <a:tc>
                  <a:txBody>
                    <a:bodyPr/>
                    <a:lstStyle/>
                    <a:p>
                      <a:pPr algn="l" fontAlgn="b"/>
                      <a:r>
                        <a:rPr lang="en-CA" sz="1400" u="none" strike="noStrike">
                          <a:effectLst/>
                        </a:rPr>
                        <a:t>October</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3433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964</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365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2468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351</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28.08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10.63</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82.11</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71606968"/>
                  </a:ext>
                </a:extLst>
              </a:tr>
              <a:tr h="352765">
                <a:tc>
                  <a:txBody>
                    <a:bodyPr/>
                    <a:lstStyle/>
                    <a:p>
                      <a:pPr algn="l" fontAlgn="b"/>
                      <a:r>
                        <a:rPr lang="en-CA" sz="1400" u="none" strike="noStrike">
                          <a:effectLst/>
                        </a:rPr>
                        <a:t>November</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2836</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2685</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134</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94.68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4.72</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0.00</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28256764"/>
                  </a:ext>
                </a:extLst>
              </a:tr>
              <a:tr h="352765">
                <a:tc>
                  <a:txBody>
                    <a:bodyPr/>
                    <a:lstStyle/>
                    <a:p>
                      <a:pPr algn="l" fontAlgn="b"/>
                      <a:r>
                        <a:rPr lang="en-CA" sz="1400" u="none" strike="noStrike">
                          <a:effectLst/>
                        </a:rPr>
                        <a:t>December</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5027</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4328</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697</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86.10</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1.59</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u="none" strike="noStrike">
                          <a:effectLst/>
                        </a:rPr>
                        <a:t>13.87</a:t>
                      </a:r>
                      <a:endParaRPr lang="en-C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9503236"/>
                  </a:ext>
                </a:extLst>
              </a:tr>
              <a:tr h="352765">
                <a:tc>
                  <a:txBody>
                    <a:bodyPr/>
                    <a:lstStyle/>
                    <a:p>
                      <a:pPr algn="l" fontAlgn="b"/>
                      <a:r>
                        <a:rPr lang="en-CA" sz="1400" b="1" u="none" strike="noStrike" dirty="0">
                          <a:effectLst/>
                        </a:rPr>
                        <a:t>Total</a:t>
                      </a:r>
                      <a:endParaRPr lang="en-C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35378</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26283</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3330</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8776</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2781</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74.29</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a:effectLst/>
                        </a:rPr>
                        <a:t>9.41</a:t>
                      </a:r>
                      <a:endParaRPr lang="en-CA" sz="1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CA" sz="1400" b="1" u="none" strike="noStrike" dirty="0">
                          <a:effectLst/>
                        </a:rPr>
                        <a:t>32.67</a:t>
                      </a:r>
                      <a:endParaRPr lang="en-CA"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09594578"/>
                  </a:ext>
                </a:extLst>
              </a:tr>
            </a:tbl>
          </a:graphicData>
        </a:graphic>
      </p:graphicFrame>
    </p:spTree>
    <p:extLst>
      <p:ext uri="{BB962C8B-B14F-4D97-AF65-F5344CB8AC3E}">
        <p14:creationId xmlns:p14="http://schemas.microsoft.com/office/powerpoint/2010/main" val="41912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22BC6-1487-14F7-3F23-529F9A4F95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D28EA-60A1-F7E5-81E4-0724E2D64AB6}"/>
              </a:ext>
            </a:extLst>
          </p:cNvPr>
          <p:cNvSpPr>
            <a:spLocks noGrp="1"/>
          </p:cNvSpPr>
          <p:nvPr>
            <p:ph idx="1"/>
          </p:nvPr>
        </p:nvSpPr>
        <p:spPr>
          <a:xfrm>
            <a:off x="911424" y="1830390"/>
            <a:ext cx="10369152" cy="4525963"/>
          </a:xfrm>
        </p:spPr>
        <p:txBody>
          <a:bodyPr>
            <a:normAutofit/>
          </a:bodyPr>
          <a:lstStyle/>
          <a:p>
            <a:r>
              <a:rPr lang="en-US" dirty="0">
                <a:effectLst/>
                <a:latin typeface="Calibri" panose="020F0502020204030204" pitchFamily="34" charset="0"/>
                <a:ea typeface="Aptos" panose="020B0004020202020204" pitchFamily="34" charset="0"/>
              </a:rPr>
              <a:t>Issues noted</a:t>
            </a:r>
          </a:p>
          <a:p>
            <a:pPr lvl="1"/>
            <a:r>
              <a:rPr lang="en-US" sz="2400" dirty="0">
                <a:effectLst/>
                <a:latin typeface="Calibri" panose="020F0502020204030204" pitchFamily="34" charset="0"/>
                <a:ea typeface="Aptos" panose="020B0004020202020204" pitchFamily="34" charset="0"/>
              </a:rPr>
              <a:t>Hokkaido University: new contributor, duplicate files</a:t>
            </a:r>
          </a:p>
          <a:p>
            <a:pPr lvl="1"/>
            <a:r>
              <a:rPr lang="en-US" sz="2400" dirty="0">
                <a:latin typeface="Calibri" panose="020F0502020204030204" pitchFamily="34" charset="0"/>
                <a:ea typeface="Aptos" panose="020B0004020202020204" pitchFamily="34" charset="0"/>
              </a:rPr>
              <a:t>MeteoSwiss: publishing to 2 agencies</a:t>
            </a:r>
          </a:p>
          <a:p>
            <a:r>
              <a:rPr lang="en-US" dirty="0">
                <a:effectLst/>
                <a:latin typeface="Calibri" panose="020F0502020204030204" pitchFamily="34" charset="0"/>
                <a:ea typeface="Aptos" panose="020B0004020202020204" pitchFamily="34" charset="0"/>
              </a:rPr>
              <a:t>Removing these issues and duplicate file publishing results in 14.87 % Failed (last column) </a:t>
            </a:r>
            <a:endParaRPr lang="en-CA" dirty="0">
              <a:effectLst/>
              <a:latin typeface="Calibri" panose="020F0502020204030204" pitchFamily="34" charset="0"/>
              <a:ea typeface="Aptos" panose="020B0004020202020204" pitchFamily="34" charset="0"/>
            </a:endParaRPr>
          </a:p>
        </p:txBody>
      </p:sp>
      <p:sp>
        <p:nvSpPr>
          <p:cNvPr id="4" name="Slide Number Placeholder 3">
            <a:extLst>
              <a:ext uri="{FF2B5EF4-FFF2-40B4-BE49-F238E27FC236}">
                <a16:creationId xmlns:a16="http://schemas.microsoft.com/office/drawing/2014/main" id="{731131C8-49E4-F2FD-C532-65BDD649C4F6}"/>
              </a:ext>
            </a:extLst>
          </p:cNvPr>
          <p:cNvSpPr>
            <a:spLocks noGrp="1"/>
          </p:cNvSpPr>
          <p:nvPr>
            <p:ph type="sldNum" sz="quarter" idx="12"/>
          </p:nvPr>
        </p:nvSpPr>
        <p:spPr/>
        <p:txBody>
          <a:bodyPr/>
          <a:lstStyle/>
          <a:p>
            <a:fld id="{5CE84AB2-A68C-446D-B258-F807154688F9}" type="slidenum">
              <a:rPr lang="en-US" smtClean="0"/>
              <a:t>10</a:t>
            </a:fld>
            <a:endParaRPr lang="en-US" dirty="0"/>
          </a:p>
        </p:txBody>
      </p:sp>
      <p:sp>
        <p:nvSpPr>
          <p:cNvPr id="5" name="Title 1">
            <a:extLst>
              <a:ext uri="{FF2B5EF4-FFF2-40B4-BE49-F238E27FC236}">
                <a16:creationId xmlns:a16="http://schemas.microsoft.com/office/drawing/2014/main" id="{DDA8DEEB-350C-4170-A1A9-269A286AE31F}"/>
              </a:ext>
            </a:extLst>
          </p:cNvPr>
          <p:cNvSpPr>
            <a:spLocks noGrp="1"/>
          </p:cNvSpPr>
          <p:nvPr>
            <p:ph type="title"/>
          </p:nvPr>
        </p:nvSpPr>
        <p:spPr>
          <a:xfrm>
            <a:off x="609600" y="274638"/>
            <a:ext cx="10972800" cy="1143000"/>
          </a:xfrm>
        </p:spPr>
        <p:txBody>
          <a:bodyPr/>
          <a:lstStyle/>
          <a:p>
            <a:r>
              <a:rPr lang="en-US" dirty="0"/>
              <a:t>Processing runs 2024</a:t>
            </a:r>
          </a:p>
        </p:txBody>
      </p:sp>
    </p:spTree>
    <p:extLst>
      <p:ext uri="{BB962C8B-B14F-4D97-AF65-F5344CB8AC3E}">
        <p14:creationId xmlns:p14="http://schemas.microsoft.com/office/powerpoint/2010/main" val="2348651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B07D-37B5-87CA-68A0-846B8ABEDD14}"/>
              </a:ext>
            </a:extLst>
          </p:cNvPr>
          <p:cNvSpPr>
            <a:spLocks noGrp="1"/>
          </p:cNvSpPr>
          <p:nvPr>
            <p:ph type="title"/>
          </p:nvPr>
        </p:nvSpPr>
        <p:spPr/>
        <p:txBody>
          <a:bodyPr/>
          <a:lstStyle/>
          <a:p>
            <a:r>
              <a:rPr lang="en-US" dirty="0"/>
              <a:t>Processing runs by year</a:t>
            </a:r>
          </a:p>
        </p:txBody>
      </p:sp>
      <p:sp>
        <p:nvSpPr>
          <p:cNvPr id="4" name="Slide Number Placeholder 3">
            <a:extLst>
              <a:ext uri="{FF2B5EF4-FFF2-40B4-BE49-F238E27FC236}">
                <a16:creationId xmlns:a16="http://schemas.microsoft.com/office/drawing/2014/main" id="{2273ADE0-EF4E-CBAC-8B71-2DD7AFC95B05}"/>
              </a:ext>
            </a:extLst>
          </p:cNvPr>
          <p:cNvSpPr>
            <a:spLocks noGrp="1"/>
          </p:cNvSpPr>
          <p:nvPr>
            <p:ph type="sldNum" sz="quarter" idx="12"/>
          </p:nvPr>
        </p:nvSpPr>
        <p:spPr/>
        <p:txBody>
          <a:bodyPr/>
          <a:lstStyle/>
          <a:p>
            <a:fld id="{5CE84AB2-A68C-446D-B258-F807154688F9}" type="slidenum">
              <a:rPr lang="en-US" smtClean="0"/>
              <a:t>11</a:t>
            </a:fld>
            <a:endParaRPr lang="en-US" dirty="0"/>
          </a:p>
        </p:txBody>
      </p:sp>
      <p:graphicFrame>
        <p:nvGraphicFramePr>
          <p:cNvPr id="5" name="Table 4">
            <a:extLst>
              <a:ext uri="{FF2B5EF4-FFF2-40B4-BE49-F238E27FC236}">
                <a16:creationId xmlns:a16="http://schemas.microsoft.com/office/drawing/2014/main" id="{8539F1DA-7E24-2A61-72A4-21868E429C9D}"/>
              </a:ext>
            </a:extLst>
          </p:cNvPr>
          <p:cNvGraphicFramePr>
            <a:graphicFrameLocks noGrp="1"/>
          </p:cNvGraphicFramePr>
          <p:nvPr>
            <p:extLst>
              <p:ext uri="{D42A27DB-BD31-4B8C-83A1-F6EECF244321}">
                <p14:modId xmlns:p14="http://schemas.microsoft.com/office/powerpoint/2010/main" val="1185285181"/>
              </p:ext>
            </p:extLst>
          </p:nvPr>
        </p:nvGraphicFramePr>
        <p:xfrm>
          <a:off x="584028" y="1628798"/>
          <a:ext cx="10998369" cy="4608517"/>
        </p:xfrm>
        <a:graphic>
          <a:graphicData uri="http://schemas.openxmlformats.org/drawingml/2006/table">
            <a:tbl>
              <a:tblPr>
                <a:tableStyleId>{5C22544A-7EE6-4342-B048-85BDC9FD1C3A}</a:tableStyleId>
              </a:tblPr>
              <a:tblGrid>
                <a:gridCol w="1222041">
                  <a:extLst>
                    <a:ext uri="{9D8B030D-6E8A-4147-A177-3AD203B41FA5}">
                      <a16:colId xmlns:a16="http://schemas.microsoft.com/office/drawing/2014/main" val="544309812"/>
                    </a:ext>
                  </a:extLst>
                </a:gridCol>
                <a:gridCol w="1222041">
                  <a:extLst>
                    <a:ext uri="{9D8B030D-6E8A-4147-A177-3AD203B41FA5}">
                      <a16:colId xmlns:a16="http://schemas.microsoft.com/office/drawing/2014/main" val="3239019219"/>
                    </a:ext>
                  </a:extLst>
                </a:gridCol>
                <a:gridCol w="1222041">
                  <a:extLst>
                    <a:ext uri="{9D8B030D-6E8A-4147-A177-3AD203B41FA5}">
                      <a16:colId xmlns:a16="http://schemas.microsoft.com/office/drawing/2014/main" val="1043386007"/>
                    </a:ext>
                  </a:extLst>
                </a:gridCol>
                <a:gridCol w="1222041">
                  <a:extLst>
                    <a:ext uri="{9D8B030D-6E8A-4147-A177-3AD203B41FA5}">
                      <a16:colId xmlns:a16="http://schemas.microsoft.com/office/drawing/2014/main" val="3950629439"/>
                    </a:ext>
                  </a:extLst>
                </a:gridCol>
                <a:gridCol w="1222041">
                  <a:extLst>
                    <a:ext uri="{9D8B030D-6E8A-4147-A177-3AD203B41FA5}">
                      <a16:colId xmlns:a16="http://schemas.microsoft.com/office/drawing/2014/main" val="1979692904"/>
                    </a:ext>
                  </a:extLst>
                </a:gridCol>
                <a:gridCol w="1222041">
                  <a:extLst>
                    <a:ext uri="{9D8B030D-6E8A-4147-A177-3AD203B41FA5}">
                      <a16:colId xmlns:a16="http://schemas.microsoft.com/office/drawing/2014/main" val="115284640"/>
                    </a:ext>
                  </a:extLst>
                </a:gridCol>
                <a:gridCol w="1222041">
                  <a:extLst>
                    <a:ext uri="{9D8B030D-6E8A-4147-A177-3AD203B41FA5}">
                      <a16:colId xmlns:a16="http://schemas.microsoft.com/office/drawing/2014/main" val="2003123933"/>
                    </a:ext>
                  </a:extLst>
                </a:gridCol>
                <a:gridCol w="1222041">
                  <a:extLst>
                    <a:ext uri="{9D8B030D-6E8A-4147-A177-3AD203B41FA5}">
                      <a16:colId xmlns:a16="http://schemas.microsoft.com/office/drawing/2014/main" val="1314185880"/>
                    </a:ext>
                  </a:extLst>
                </a:gridCol>
                <a:gridCol w="1222041">
                  <a:extLst>
                    <a:ext uri="{9D8B030D-6E8A-4147-A177-3AD203B41FA5}">
                      <a16:colId xmlns:a16="http://schemas.microsoft.com/office/drawing/2014/main" val="3608627588"/>
                    </a:ext>
                  </a:extLst>
                </a:gridCol>
              </a:tblGrid>
              <a:tr h="645305">
                <a:tc>
                  <a:txBody>
                    <a:bodyPr/>
                    <a:lstStyle/>
                    <a:p>
                      <a:pPr algn="l" fontAlgn="b"/>
                      <a:r>
                        <a:rPr lang="en-CA" sz="1600" b="1" u="none" strike="noStrike" dirty="0">
                          <a:effectLst/>
                        </a:rPr>
                        <a:t>Year</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Total Files</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Passed</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Fixed</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Failed (</a:t>
                      </a:r>
                      <a:r>
                        <a:rPr lang="en-CA" sz="1600" b="1" u="none" strike="noStrike" dirty="0" err="1">
                          <a:effectLst/>
                        </a:rPr>
                        <a:t>extCSV</a:t>
                      </a:r>
                      <a:r>
                        <a:rPr lang="en-CA" sz="1600" b="1" u="none" strike="noStrike" dirty="0">
                          <a:effectLst/>
                        </a:rPr>
                        <a:t>)</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Failed (non-standard)</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 Passed</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 Passed With Fixes</a:t>
                      </a:r>
                      <a:endParaRPr lang="en-CA" sz="1600" b="1" i="0" u="none" strike="noStrike" dirty="0">
                        <a:solidFill>
                          <a:srgbClr val="0E2841"/>
                        </a:solidFill>
                        <a:effectLst/>
                        <a:latin typeface="Aptos Narrow" panose="020B0004020202020204" pitchFamily="34" charset="0"/>
                      </a:endParaRPr>
                    </a:p>
                  </a:txBody>
                  <a:tcPr marL="9525" marR="9525" marT="9525" marB="0" anchor="b"/>
                </a:tc>
                <a:tc>
                  <a:txBody>
                    <a:bodyPr/>
                    <a:lstStyle/>
                    <a:p>
                      <a:pPr algn="r" fontAlgn="b"/>
                      <a:r>
                        <a:rPr lang="en-CA" sz="1600" b="1" u="none" strike="noStrike" dirty="0">
                          <a:effectLst/>
                        </a:rPr>
                        <a:t>% Failed</a:t>
                      </a:r>
                      <a:endParaRPr lang="en-CA" sz="1600" b="1" i="0" u="none" strike="noStrike" dirty="0">
                        <a:solidFill>
                          <a:srgbClr val="0E284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58622127"/>
                  </a:ext>
                </a:extLst>
              </a:tr>
              <a:tr h="466260">
                <a:tc>
                  <a:txBody>
                    <a:bodyPr/>
                    <a:lstStyle/>
                    <a:p>
                      <a:pPr algn="l" fontAlgn="b"/>
                      <a:r>
                        <a:rPr lang="en-CA" sz="1600" u="none" strike="noStrike" dirty="0">
                          <a:effectLst/>
                        </a:rPr>
                        <a:t>2016</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34451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N/A</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N/A</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2113202"/>
                  </a:ext>
                </a:extLst>
              </a:tr>
              <a:tr h="437119">
                <a:tc>
                  <a:txBody>
                    <a:bodyPr/>
                    <a:lstStyle/>
                    <a:p>
                      <a:pPr algn="l" fontAlgn="b"/>
                      <a:r>
                        <a:rPr lang="en-CA" sz="1600" u="none" strike="noStrike">
                          <a:effectLst/>
                        </a:rPr>
                        <a:t>2017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44022</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28049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6863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2367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6743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63.72</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15.59</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20.69</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06019816"/>
                  </a:ext>
                </a:extLst>
              </a:tr>
              <a:tr h="437119">
                <a:tc>
                  <a:txBody>
                    <a:bodyPr/>
                    <a:lstStyle/>
                    <a:p>
                      <a:pPr algn="l" fontAlgn="b"/>
                      <a:r>
                        <a:rPr lang="en-CA" sz="1600" u="none" strike="noStrike" dirty="0">
                          <a:effectLst/>
                        </a:rPr>
                        <a:t>2018</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31224</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19364</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3496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1704</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6560</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62.02</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11.20</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26.47</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89053887"/>
                  </a:ext>
                </a:extLst>
              </a:tr>
              <a:tr h="437119">
                <a:tc>
                  <a:txBody>
                    <a:bodyPr/>
                    <a:lstStyle/>
                    <a:p>
                      <a:pPr algn="l" fontAlgn="b"/>
                      <a:r>
                        <a:rPr lang="en-CA" sz="1600" u="none" strike="noStrike">
                          <a:effectLst/>
                        </a:rPr>
                        <a:t>2019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112249</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98871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12121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927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330</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88.08</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10.80</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1.12</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16574471"/>
                  </a:ext>
                </a:extLst>
              </a:tr>
              <a:tr h="437119">
                <a:tc>
                  <a:txBody>
                    <a:bodyPr/>
                    <a:lstStyle/>
                    <a:p>
                      <a:pPr algn="l" fontAlgn="b"/>
                      <a:r>
                        <a:rPr lang="en-CA" sz="1600" u="none" strike="noStrike">
                          <a:effectLst/>
                        </a:rPr>
                        <a:t>2020</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100662</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73046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24439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2071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1056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72.57</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24.28</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3.11</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63661590"/>
                  </a:ext>
                </a:extLst>
              </a:tr>
              <a:tr h="437119">
                <a:tc>
                  <a:txBody>
                    <a:bodyPr/>
                    <a:lstStyle/>
                    <a:p>
                      <a:pPr algn="l" fontAlgn="b"/>
                      <a:r>
                        <a:rPr lang="en-CA" sz="1600" u="none" strike="noStrike">
                          <a:effectLst/>
                        </a:rPr>
                        <a:t>2021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32529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21086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10199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897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615</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64.82</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31.35</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4.65</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58526958"/>
                  </a:ext>
                </a:extLst>
              </a:tr>
              <a:tr h="437119">
                <a:tc>
                  <a:txBody>
                    <a:bodyPr/>
                    <a:lstStyle/>
                    <a:p>
                      <a:pPr algn="l" fontAlgn="b"/>
                      <a:r>
                        <a:rPr lang="en-CA" sz="1600" u="none" strike="noStrike">
                          <a:effectLst/>
                        </a:rPr>
                        <a:t>2022</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22192</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22127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2317</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1626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626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99.71</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10.44</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10.15</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39218081"/>
                  </a:ext>
                </a:extLst>
              </a:tr>
              <a:tr h="437119">
                <a:tc>
                  <a:txBody>
                    <a:bodyPr/>
                    <a:lstStyle/>
                    <a:p>
                      <a:pPr algn="l" fontAlgn="b"/>
                      <a:r>
                        <a:rPr lang="en-CA" sz="1600" u="none" strike="noStrike">
                          <a:effectLst/>
                        </a:rPr>
                        <a:t>2023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50953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32813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2015</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3399</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491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64.40</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3.95</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7.63</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85696847"/>
                  </a:ext>
                </a:extLst>
              </a:tr>
              <a:tr h="437119">
                <a:tc>
                  <a:txBody>
                    <a:bodyPr/>
                    <a:lstStyle/>
                    <a:p>
                      <a:pPr algn="l" fontAlgn="b"/>
                      <a:r>
                        <a:rPr lang="en-CA" sz="1600" u="none" strike="noStrike" dirty="0">
                          <a:effectLst/>
                        </a:rPr>
                        <a:t>2024</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35378</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26283</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3330</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8776</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a:effectLst/>
                        </a:rPr>
                        <a:t>2781</a:t>
                      </a:r>
                      <a:endParaRPr lang="en-CA" sz="1600" b="1" i="0" u="none" strike="noStrike">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74.29</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9.41</a:t>
                      </a:r>
                      <a:endParaRPr lang="en-CA" sz="1600" b="1" i="0" u="none" strike="noStrike" dirty="0">
                        <a:solidFill>
                          <a:srgbClr val="3F3F3F"/>
                        </a:solidFill>
                        <a:effectLst/>
                        <a:latin typeface="Aptos Narrow" panose="020B0004020202020204" pitchFamily="34" charset="0"/>
                      </a:endParaRPr>
                    </a:p>
                  </a:txBody>
                  <a:tcPr marL="9525" marR="9525" marT="9525" marB="0" anchor="b"/>
                </a:tc>
                <a:tc>
                  <a:txBody>
                    <a:bodyPr/>
                    <a:lstStyle/>
                    <a:p>
                      <a:pPr algn="r" fontAlgn="b"/>
                      <a:r>
                        <a:rPr lang="en-CA" sz="1600" u="none" strike="noStrike" dirty="0">
                          <a:effectLst/>
                        </a:rPr>
                        <a:t>32.67</a:t>
                      </a:r>
                      <a:endParaRPr lang="en-CA" sz="1600" b="1" i="0" u="none" strike="noStrike" dirty="0">
                        <a:solidFill>
                          <a:srgbClr val="3F3F3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94247711"/>
                  </a:ext>
                </a:extLst>
              </a:tr>
            </a:tbl>
          </a:graphicData>
        </a:graphic>
      </p:graphicFrame>
    </p:spTree>
    <p:extLst>
      <p:ext uri="{BB962C8B-B14F-4D97-AF65-F5344CB8AC3E}">
        <p14:creationId xmlns:p14="http://schemas.microsoft.com/office/powerpoint/2010/main" val="1896031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Downloads 2024</a:t>
            </a:r>
          </a:p>
        </p:txBody>
      </p:sp>
      <p:sp>
        <p:nvSpPr>
          <p:cNvPr id="4" name="Slide Number Placeholder 3"/>
          <p:cNvSpPr>
            <a:spLocks noGrp="1"/>
          </p:cNvSpPr>
          <p:nvPr>
            <p:ph type="sldNum" sz="quarter" idx="12"/>
          </p:nvPr>
        </p:nvSpPr>
        <p:spPr/>
        <p:txBody>
          <a:bodyPr/>
          <a:lstStyle/>
          <a:p>
            <a:fld id="{5CE84AB2-A68C-446D-B258-F807154688F9}" type="slidenum">
              <a:rPr lang="en-US" smtClean="0"/>
              <a:t>12</a:t>
            </a:fld>
            <a:endParaRPr lang="en-US" dirty="0"/>
          </a:p>
        </p:txBody>
      </p:sp>
      <p:graphicFrame>
        <p:nvGraphicFramePr>
          <p:cNvPr id="5" name="Table 4">
            <a:extLst>
              <a:ext uri="{FF2B5EF4-FFF2-40B4-BE49-F238E27FC236}">
                <a16:creationId xmlns:a16="http://schemas.microsoft.com/office/drawing/2014/main" id="{430A6B98-B8DF-7438-FE59-ACC7B3FF080D}"/>
              </a:ext>
            </a:extLst>
          </p:cNvPr>
          <p:cNvGraphicFramePr>
            <a:graphicFrameLocks noGrp="1"/>
          </p:cNvGraphicFramePr>
          <p:nvPr>
            <p:extLst>
              <p:ext uri="{D42A27DB-BD31-4B8C-83A1-F6EECF244321}">
                <p14:modId xmlns:p14="http://schemas.microsoft.com/office/powerpoint/2010/main" val="3604254078"/>
              </p:ext>
            </p:extLst>
          </p:nvPr>
        </p:nvGraphicFramePr>
        <p:xfrm>
          <a:off x="6084100" y="2034862"/>
          <a:ext cx="5498300" cy="3694681"/>
        </p:xfrm>
        <a:graphic>
          <a:graphicData uri="http://schemas.openxmlformats.org/drawingml/2006/table">
            <a:tbl>
              <a:tblPr>
                <a:tableStyleId>{5C22544A-7EE6-4342-B048-85BDC9FD1C3A}</a:tableStyleId>
              </a:tblPr>
              <a:tblGrid>
                <a:gridCol w="2899947">
                  <a:extLst>
                    <a:ext uri="{9D8B030D-6E8A-4147-A177-3AD203B41FA5}">
                      <a16:colId xmlns:a16="http://schemas.microsoft.com/office/drawing/2014/main" val="4257895251"/>
                    </a:ext>
                  </a:extLst>
                </a:gridCol>
                <a:gridCol w="2598353">
                  <a:extLst>
                    <a:ext uri="{9D8B030D-6E8A-4147-A177-3AD203B41FA5}">
                      <a16:colId xmlns:a16="http://schemas.microsoft.com/office/drawing/2014/main" val="1008003008"/>
                    </a:ext>
                  </a:extLst>
                </a:gridCol>
              </a:tblGrid>
              <a:tr h="654301">
                <a:tc>
                  <a:txBody>
                    <a:bodyPr/>
                    <a:lstStyle/>
                    <a:p>
                      <a:pPr algn="ctr" rtl="0" fontAlgn="ctr"/>
                      <a:r>
                        <a:rPr lang="en-CA" sz="1600" b="1" u="none" strike="noStrike" dirty="0">
                          <a:effectLst/>
                        </a:rPr>
                        <a:t>Dataset</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600" b="1" u="none" strike="noStrike" dirty="0">
                          <a:effectLst/>
                        </a:rPr>
                        <a:t>Geospatial Web Services (number of requests)</a:t>
                      </a:r>
                      <a:endParaRPr lang="en-US"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73541282"/>
                  </a:ext>
                </a:extLst>
              </a:tr>
              <a:tr h="225251">
                <a:tc>
                  <a:txBody>
                    <a:bodyPr/>
                    <a:lstStyle/>
                    <a:p>
                      <a:pPr algn="l" rtl="0" fontAlgn="ctr"/>
                      <a:r>
                        <a:rPr lang="en-CA" sz="1600" u="none" strike="noStrike" dirty="0" err="1">
                          <a:effectLst/>
                        </a:rPr>
                        <a:t>OzoneSonde</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16239</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0353588"/>
                  </a:ext>
                </a:extLst>
              </a:tr>
              <a:tr h="225251">
                <a:tc>
                  <a:txBody>
                    <a:bodyPr/>
                    <a:lstStyle/>
                    <a:p>
                      <a:pPr algn="l" rtl="0" fontAlgn="ctr"/>
                      <a:r>
                        <a:rPr lang="en-CA" sz="1600" u="none" strike="noStrike">
                          <a:effectLst/>
                        </a:rPr>
                        <a:t>TotalOzone</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10240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61730340"/>
                  </a:ext>
                </a:extLst>
              </a:tr>
              <a:tr h="225251">
                <a:tc>
                  <a:txBody>
                    <a:bodyPr/>
                    <a:lstStyle/>
                    <a:p>
                      <a:pPr algn="l" rtl="0" fontAlgn="ctr"/>
                      <a:r>
                        <a:rPr lang="en-CA" sz="1600" u="none" strike="noStrike" dirty="0" err="1">
                          <a:effectLst/>
                        </a:rPr>
                        <a:t>uv_index_hourly</a:t>
                      </a:r>
                      <a:r>
                        <a:rPr lang="en-CA" sz="1600" u="none" strike="noStrike" dirty="0">
                          <a:effectLst/>
                        </a:rPr>
                        <a:t> (data product)</a:t>
                      </a:r>
                    </a:p>
                  </a:txBody>
                  <a:tcPr marL="9525" marR="9525" marT="9525" marB="0" anchor="ctr"/>
                </a:tc>
                <a:tc>
                  <a:txBody>
                    <a:bodyPr/>
                    <a:lstStyle/>
                    <a:p>
                      <a:pPr algn="r" rtl="0" fontAlgn="ctr"/>
                      <a:r>
                        <a:rPr lang="en-CA" sz="1600" u="none" strike="noStrike">
                          <a:effectLst/>
                        </a:rPr>
                        <a:t>7415</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634481"/>
                  </a:ext>
                </a:extLst>
              </a:tr>
              <a:tr h="225251">
                <a:tc>
                  <a:txBody>
                    <a:bodyPr/>
                    <a:lstStyle/>
                    <a:p>
                      <a:pPr algn="l" rtl="0" fontAlgn="ctr"/>
                      <a:r>
                        <a:rPr lang="en-CA" sz="1600" u="none" strike="noStrike" dirty="0" err="1">
                          <a:effectLst/>
                        </a:rPr>
                        <a:t>TotalOzoneObs</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4797</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38546256"/>
                  </a:ext>
                </a:extLst>
              </a:tr>
              <a:tr h="225251">
                <a:tc>
                  <a:txBody>
                    <a:bodyPr/>
                    <a:lstStyle/>
                    <a:p>
                      <a:pPr algn="l" rtl="0" fontAlgn="ctr"/>
                      <a:r>
                        <a:rPr lang="en-CA" sz="1600" u="none" strike="noStrike">
                          <a:effectLst/>
                        </a:rPr>
                        <a:t>RocketSonde</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2926</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44703447"/>
                  </a:ext>
                </a:extLst>
              </a:tr>
              <a:tr h="225251">
                <a:tc>
                  <a:txBody>
                    <a:bodyPr/>
                    <a:lstStyle/>
                    <a:p>
                      <a:pPr algn="l" rtl="0" fontAlgn="ctr"/>
                      <a:r>
                        <a:rPr lang="en-CA" sz="1600" u="none" strike="noStrike">
                          <a:effectLst/>
                        </a:rPr>
                        <a:t>Broadband</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2856</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480897"/>
                  </a:ext>
                </a:extLst>
              </a:tr>
              <a:tr h="225251">
                <a:tc>
                  <a:txBody>
                    <a:bodyPr/>
                    <a:lstStyle/>
                    <a:p>
                      <a:pPr algn="l" rtl="0" fontAlgn="ctr"/>
                      <a:r>
                        <a:rPr lang="en-CA" sz="1600" u="none" strike="noStrike">
                          <a:effectLst/>
                        </a:rPr>
                        <a:t>Spectral</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dirty="0">
                          <a:effectLst/>
                        </a:rPr>
                        <a:t>2638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18845072"/>
                  </a:ext>
                </a:extLst>
              </a:tr>
              <a:tr h="225251">
                <a:tc>
                  <a:txBody>
                    <a:bodyPr/>
                    <a:lstStyle/>
                    <a:p>
                      <a:pPr algn="l" rtl="0" fontAlgn="ctr"/>
                      <a:r>
                        <a:rPr lang="en-CA" sz="1600" u="none" strike="noStrike">
                          <a:effectLst/>
                        </a:rPr>
                        <a:t>Lidar</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2406</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96302355"/>
                  </a:ext>
                </a:extLst>
              </a:tr>
              <a:tr h="225251">
                <a:tc>
                  <a:txBody>
                    <a:bodyPr/>
                    <a:lstStyle/>
                    <a:p>
                      <a:pPr algn="l" rtl="0" fontAlgn="ctr"/>
                      <a:r>
                        <a:rPr lang="en-CA" sz="1600" u="none" strike="noStrike">
                          <a:effectLst/>
                        </a:rPr>
                        <a:t>Multiband</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CA" sz="1600" u="none" strike="noStrike">
                          <a:effectLst/>
                        </a:rPr>
                        <a:t>2189</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3496868"/>
                  </a:ext>
                </a:extLst>
              </a:tr>
              <a:tr h="225251">
                <a:tc>
                  <a:txBody>
                    <a:bodyPr/>
                    <a:lstStyle/>
                    <a:p>
                      <a:pPr algn="l" rtl="0" fontAlgn="ctr"/>
                      <a:r>
                        <a:rPr lang="en-CA" sz="1600" u="none" strike="noStrike" dirty="0">
                          <a:effectLst/>
                        </a:rPr>
                        <a:t>UmkehrN14 1.0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CA" sz="1600" u="none" strike="noStrike">
                          <a:effectLst/>
                        </a:rPr>
                        <a:t>810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54417187"/>
                  </a:ext>
                </a:extLst>
              </a:tr>
              <a:tr h="225251">
                <a:tc>
                  <a:txBody>
                    <a:bodyPr/>
                    <a:lstStyle/>
                    <a:p>
                      <a:pPr algn="l" rtl="0" fontAlgn="ctr"/>
                      <a:r>
                        <a:rPr lang="en-CA" sz="1600" u="none" strike="noStrike" dirty="0">
                          <a:effectLst/>
                        </a:rPr>
                        <a:t>UmkehrN14 2.0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610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6599186"/>
                  </a:ext>
                </a:extLst>
              </a:tr>
              <a:tr h="214525">
                <a:tc>
                  <a:txBody>
                    <a:bodyPr/>
                    <a:lstStyle/>
                    <a:p>
                      <a:pPr algn="l" rtl="0" fontAlgn="ctr"/>
                      <a:r>
                        <a:rPr lang="en-CA" sz="1600" b="1" u="none" strike="noStrike" dirty="0">
                          <a:effectLst/>
                        </a:rPr>
                        <a:t>Total</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b"/>
                      <a:r>
                        <a:rPr lang="en-CA" sz="1600" b="1" u="none" strike="noStrike" dirty="0">
                          <a:effectLst/>
                        </a:rPr>
                        <a:t>53126</a:t>
                      </a:r>
                      <a:endParaRPr lang="en-CA"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48744791"/>
                  </a:ext>
                </a:extLst>
              </a:tr>
            </a:tbl>
          </a:graphicData>
        </a:graphic>
      </p:graphicFrame>
      <p:graphicFrame>
        <p:nvGraphicFramePr>
          <p:cNvPr id="6" name="Table 5">
            <a:extLst>
              <a:ext uri="{FF2B5EF4-FFF2-40B4-BE49-F238E27FC236}">
                <a16:creationId xmlns:a16="http://schemas.microsoft.com/office/drawing/2014/main" id="{87A641C5-FA7B-709C-1162-76F57ECD9F11}"/>
              </a:ext>
            </a:extLst>
          </p:cNvPr>
          <p:cNvGraphicFramePr>
            <a:graphicFrameLocks noGrp="1"/>
          </p:cNvGraphicFramePr>
          <p:nvPr>
            <p:extLst>
              <p:ext uri="{D42A27DB-BD31-4B8C-83A1-F6EECF244321}">
                <p14:modId xmlns:p14="http://schemas.microsoft.com/office/powerpoint/2010/main" val="3294360152"/>
              </p:ext>
            </p:extLst>
          </p:nvPr>
        </p:nvGraphicFramePr>
        <p:xfrm>
          <a:off x="609600" y="2034864"/>
          <a:ext cx="5270376" cy="4297680"/>
        </p:xfrm>
        <a:graphic>
          <a:graphicData uri="http://schemas.openxmlformats.org/drawingml/2006/table">
            <a:tbl>
              <a:tblPr>
                <a:tableStyleId>{5C22544A-7EE6-4342-B048-85BDC9FD1C3A}</a:tableStyleId>
              </a:tblPr>
              <a:tblGrid>
                <a:gridCol w="2779734">
                  <a:extLst>
                    <a:ext uri="{9D8B030D-6E8A-4147-A177-3AD203B41FA5}">
                      <a16:colId xmlns:a16="http://schemas.microsoft.com/office/drawing/2014/main" val="3613743599"/>
                    </a:ext>
                  </a:extLst>
                </a:gridCol>
                <a:gridCol w="2490642">
                  <a:extLst>
                    <a:ext uri="{9D8B030D-6E8A-4147-A177-3AD203B41FA5}">
                      <a16:colId xmlns:a16="http://schemas.microsoft.com/office/drawing/2014/main" val="4114244683"/>
                    </a:ext>
                  </a:extLst>
                </a:gridCol>
              </a:tblGrid>
              <a:tr h="265520">
                <a:tc>
                  <a:txBody>
                    <a:bodyPr/>
                    <a:lstStyle/>
                    <a:p>
                      <a:pPr algn="ctr" rtl="0" fontAlgn="ctr"/>
                      <a:r>
                        <a:rPr lang="en-CA" sz="1600" b="1" u="none" strike="noStrike" dirty="0">
                          <a:effectLst/>
                        </a:rPr>
                        <a:t>Dataset</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CA" sz="1600" b="1" u="none" strike="noStrike" dirty="0">
                          <a:effectLst/>
                        </a:rPr>
                        <a:t>WAF (number of downloads)</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76432899"/>
                  </a:ext>
                </a:extLst>
              </a:tr>
              <a:tr h="206059">
                <a:tc>
                  <a:txBody>
                    <a:bodyPr/>
                    <a:lstStyle/>
                    <a:p>
                      <a:pPr algn="l" rtl="0" fontAlgn="ctr"/>
                      <a:r>
                        <a:rPr lang="en-CA" sz="1600" u="none" strike="noStrike">
                          <a:effectLst/>
                        </a:rPr>
                        <a:t>OzoneSonde_1.0_1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25606035</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01921256"/>
                  </a:ext>
                </a:extLst>
              </a:tr>
              <a:tr h="206059">
                <a:tc>
                  <a:txBody>
                    <a:bodyPr/>
                    <a:lstStyle/>
                    <a:p>
                      <a:pPr algn="l" rtl="0" fontAlgn="ctr"/>
                      <a:r>
                        <a:rPr lang="en-CA" sz="1600" u="none" strike="noStrike">
                          <a:effectLst/>
                        </a:rPr>
                        <a:t>TotalOzone_1.0_1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18754888</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5689951"/>
                  </a:ext>
                </a:extLst>
              </a:tr>
              <a:tr h="206059">
                <a:tc>
                  <a:txBody>
                    <a:bodyPr/>
                    <a:lstStyle/>
                    <a:p>
                      <a:pPr algn="l" rtl="0" fontAlgn="ctr"/>
                      <a:r>
                        <a:rPr lang="en-CA" sz="1600" u="none" strike="noStrike">
                          <a:effectLst/>
                        </a:rPr>
                        <a:t>TotalOzoneObs_1.0_1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8685276</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95706251"/>
                  </a:ext>
                </a:extLst>
              </a:tr>
              <a:tr h="206059">
                <a:tc>
                  <a:txBody>
                    <a:bodyPr/>
                    <a:lstStyle/>
                    <a:p>
                      <a:pPr algn="l" rtl="0" fontAlgn="ctr"/>
                      <a:r>
                        <a:rPr lang="en-CA" sz="1600" u="none" strike="noStrike">
                          <a:effectLst/>
                        </a:rPr>
                        <a:t>Spectral_1.0_1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3760790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64846724"/>
                  </a:ext>
                </a:extLst>
              </a:tr>
              <a:tr h="206059">
                <a:tc>
                  <a:txBody>
                    <a:bodyPr/>
                    <a:lstStyle/>
                    <a:p>
                      <a:pPr algn="l" rtl="0" fontAlgn="ctr"/>
                      <a:r>
                        <a:rPr lang="en-CA" sz="1600" u="none" strike="noStrike">
                          <a:effectLst/>
                        </a:rPr>
                        <a:t>Broad-band_1.0_1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1817432</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51012103"/>
                  </a:ext>
                </a:extLst>
              </a:tr>
              <a:tr h="206059">
                <a:tc>
                  <a:txBody>
                    <a:bodyPr/>
                    <a:lstStyle/>
                    <a:p>
                      <a:pPr algn="l" rtl="0" fontAlgn="ctr"/>
                      <a:r>
                        <a:rPr lang="en-CA" sz="1600" u="none" strike="noStrike">
                          <a:effectLst/>
                        </a:rPr>
                        <a:t>Multi-band_1.0_1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1019017</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86172309"/>
                  </a:ext>
                </a:extLst>
              </a:tr>
              <a:tr h="206059">
                <a:tc>
                  <a:txBody>
                    <a:bodyPr/>
                    <a:lstStyle/>
                    <a:p>
                      <a:pPr algn="l" rtl="0" fontAlgn="ctr"/>
                      <a:r>
                        <a:rPr lang="en-CA" sz="1600" u="none" strike="noStrike">
                          <a:effectLst/>
                        </a:rPr>
                        <a:t>UmkehrN14_2.0_1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305962</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78209534"/>
                  </a:ext>
                </a:extLst>
              </a:tr>
              <a:tr h="206059">
                <a:tc>
                  <a:txBody>
                    <a:bodyPr/>
                    <a:lstStyle/>
                    <a:p>
                      <a:pPr algn="l" rtl="0" fontAlgn="ctr"/>
                      <a:r>
                        <a:rPr lang="en-CA" sz="1600" u="none" strike="noStrike">
                          <a:effectLst/>
                        </a:rPr>
                        <a:t>UmkehrN14_1.0_1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304584</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7616130"/>
                  </a:ext>
                </a:extLst>
              </a:tr>
              <a:tr h="206059">
                <a:tc>
                  <a:txBody>
                    <a:bodyPr/>
                    <a:lstStyle/>
                    <a:p>
                      <a:pPr algn="l" rtl="0" fontAlgn="ctr"/>
                      <a:r>
                        <a:rPr lang="en-CA" sz="1600" u="none" strike="noStrike">
                          <a:effectLst/>
                        </a:rPr>
                        <a:t>Broad-band_2.0_1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47489</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40280013"/>
                  </a:ext>
                </a:extLst>
              </a:tr>
              <a:tr h="206059">
                <a:tc>
                  <a:txBody>
                    <a:bodyPr/>
                    <a:lstStyle/>
                    <a:p>
                      <a:pPr algn="l" rtl="0" fontAlgn="ctr"/>
                      <a:r>
                        <a:rPr lang="en-CA" sz="1600" u="none" strike="noStrike">
                          <a:effectLst/>
                        </a:rPr>
                        <a:t>Spectral_2.0_1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CA" sz="1600" u="none" strike="noStrike">
                          <a:effectLst/>
                        </a:rPr>
                        <a:t>43168</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76416189"/>
                  </a:ext>
                </a:extLst>
              </a:tr>
              <a:tr h="206059">
                <a:tc>
                  <a:txBody>
                    <a:bodyPr/>
                    <a:lstStyle/>
                    <a:p>
                      <a:pPr algn="l" rtl="0" fontAlgn="ctr"/>
                      <a:r>
                        <a:rPr lang="en-CA" sz="1600" u="none" strike="noStrike">
                          <a:effectLst/>
                        </a:rPr>
                        <a:t>RocketSonde</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b"/>
                      <a:r>
                        <a:rPr lang="en-CA" sz="1600" u="none" strike="noStrike">
                          <a:effectLst/>
                        </a:rPr>
                        <a:t>12148</a:t>
                      </a:r>
                      <a:endParaRPr lang="en-CA"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45351294"/>
                  </a:ext>
                </a:extLst>
              </a:tr>
              <a:tr h="206059">
                <a:tc>
                  <a:txBody>
                    <a:bodyPr/>
                    <a:lstStyle/>
                    <a:p>
                      <a:pPr algn="l" rtl="0" fontAlgn="ctr"/>
                      <a:r>
                        <a:rPr lang="en-CA" sz="1600" u="none" strike="noStrike">
                          <a:effectLst/>
                        </a:rPr>
                        <a:t>TotalOzone_2.0_1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b"/>
                      <a:r>
                        <a:rPr lang="en-CA" sz="1600" u="none" strike="noStrike">
                          <a:effectLst/>
                        </a:rPr>
                        <a:t>33393</a:t>
                      </a:r>
                      <a:endParaRPr lang="en-CA"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72159501"/>
                  </a:ext>
                </a:extLst>
              </a:tr>
              <a:tr h="206059">
                <a:tc>
                  <a:txBody>
                    <a:bodyPr/>
                    <a:lstStyle/>
                    <a:p>
                      <a:pPr algn="l" rtl="0" fontAlgn="ctr"/>
                      <a:r>
                        <a:rPr lang="en-CA" sz="1600" u="none" strike="noStrike" dirty="0">
                          <a:effectLst/>
                        </a:rPr>
                        <a:t>Lidar_1.0_1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b"/>
                      <a:r>
                        <a:rPr lang="en-CA" sz="1600" u="none" strike="noStrike">
                          <a:effectLst/>
                        </a:rPr>
                        <a:t>16394</a:t>
                      </a:r>
                      <a:endParaRPr lang="en-CA"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3766527"/>
                  </a:ext>
                </a:extLst>
              </a:tr>
              <a:tr h="206059">
                <a:tc>
                  <a:txBody>
                    <a:bodyPr/>
                    <a:lstStyle/>
                    <a:p>
                      <a:pPr algn="l" rtl="0" fontAlgn="ctr"/>
                      <a:r>
                        <a:rPr lang="en-CA" sz="1600" u="none" strike="noStrike" dirty="0">
                          <a:effectLst/>
                        </a:rPr>
                        <a:t>SurfaceOzone_1.0_1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b"/>
                      <a:r>
                        <a:rPr lang="en-CA" sz="1600" u="none" strike="noStrike">
                          <a:effectLst/>
                        </a:rPr>
                        <a:t>44759</a:t>
                      </a:r>
                      <a:endParaRPr lang="en-CA"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22122349"/>
                  </a:ext>
                </a:extLst>
              </a:tr>
              <a:tr h="245030">
                <a:tc>
                  <a:txBody>
                    <a:bodyPr/>
                    <a:lstStyle/>
                    <a:p>
                      <a:pPr algn="l" rtl="0" fontAlgn="ctr"/>
                      <a:r>
                        <a:rPr lang="en-CA" sz="1600" b="1" u="none" strike="noStrike" dirty="0">
                          <a:effectLst/>
                        </a:rPr>
                        <a:t>Total</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b"/>
                      <a:r>
                        <a:rPr lang="en-CA" sz="1600" b="1" u="none" strike="noStrike" dirty="0">
                          <a:effectLst/>
                        </a:rPr>
                        <a:t>60451335</a:t>
                      </a:r>
                      <a:endParaRPr lang="en-CA"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70454933"/>
                  </a:ext>
                </a:extLst>
              </a:tr>
            </a:tbl>
          </a:graphicData>
        </a:graphic>
      </p:graphicFrame>
      <p:sp>
        <p:nvSpPr>
          <p:cNvPr id="8" name="TextBox 7">
            <a:extLst>
              <a:ext uri="{FF2B5EF4-FFF2-40B4-BE49-F238E27FC236}">
                <a16:creationId xmlns:a16="http://schemas.microsoft.com/office/drawing/2014/main" id="{F20A949C-D540-051D-5ED9-22B3B8FC5827}"/>
              </a:ext>
            </a:extLst>
          </p:cNvPr>
          <p:cNvSpPr txBox="1"/>
          <p:nvPr/>
        </p:nvSpPr>
        <p:spPr>
          <a:xfrm>
            <a:off x="4223792" y="1048306"/>
            <a:ext cx="6098720" cy="369332"/>
          </a:xfrm>
          <a:prstGeom prst="rect">
            <a:avLst/>
          </a:prstGeom>
          <a:noFill/>
        </p:spPr>
        <p:txBody>
          <a:bodyPr wrap="square">
            <a:spAutoFit/>
          </a:bodyPr>
          <a:lstStyle/>
          <a:p>
            <a:r>
              <a:rPr lang="en-US" dirty="0"/>
              <a:t>(excludes 2024-02-01 to 2024-03-14)</a:t>
            </a:r>
            <a:endParaRPr lang="en-CA" dirty="0"/>
          </a:p>
        </p:txBody>
      </p:sp>
    </p:spTree>
    <p:extLst>
      <p:ext uri="{BB962C8B-B14F-4D97-AF65-F5344CB8AC3E}">
        <p14:creationId xmlns:p14="http://schemas.microsoft.com/office/powerpoint/2010/main" val="267013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WOUDC 2.0 release</a:t>
            </a:r>
          </a:p>
        </p:txBody>
      </p:sp>
      <p:sp>
        <p:nvSpPr>
          <p:cNvPr id="3" name="Content Placeholder 2"/>
          <p:cNvSpPr>
            <a:spLocks noGrp="1"/>
          </p:cNvSpPr>
          <p:nvPr>
            <p:ph idx="1"/>
          </p:nvPr>
        </p:nvSpPr>
        <p:spPr/>
        <p:txBody>
          <a:bodyPr>
            <a:normAutofit/>
          </a:bodyPr>
          <a:lstStyle/>
          <a:p>
            <a:r>
              <a:rPr lang="en-CA" dirty="0"/>
              <a:t>Simplified data management</a:t>
            </a:r>
          </a:p>
          <a:p>
            <a:r>
              <a:rPr lang="en-CA" dirty="0"/>
              <a:t>New UI: </a:t>
            </a:r>
            <a:r>
              <a:rPr lang="en-CA" dirty="0">
                <a:hlinkClick r:id="rId3"/>
              </a:rPr>
              <a:t>woudc.org</a:t>
            </a:r>
            <a:endParaRPr lang="en-CA" dirty="0"/>
          </a:p>
          <a:p>
            <a:r>
              <a:rPr lang="en-CA" dirty="0"/>
              <a:t>New API: </a:t>
            </a:r>
            <a:r>
              <a:rPr lang="en-CA" dirty="0">
                <a:hlinkClick r:id="rId4"/>
              </a:rPr>
              <a:t>api.woudc.org</a:t>
            </a:r>
            <a:endParaRPr lang="en-CA" dirty="0"/>
          </a:p>
          <a:p>
            <a:r>
              <a:rPr lang="en-CA" dirty="0"/>
              <a:t>Notification services</a:t>
            </a:r>
          </a:p>
          <a:p>
            <a:r>
              <a:rPr lang="en-CA" dirty="0"/>
              <a:t>All software is free and open source on </a:t>
            </a:r>
            <a:r>
              <a:rPr lang="en-CA" dirty="0">
                <a:hlinkClick r:id="rId5"/>
              </a:rPr>
              <a:t>GitHub</a:t>
            </a:r>
            <a:endParaRPr lang="en-CA" dirty="0"/>
          </a:p>
          <a:p>
            <a:r>
              <a:rPr lang="en-CA" dirty="0"/>
              <a:t>WIS2 implementation</a:t>
            </a:r>
          </a:p>
          <a:p>
            <a:r>
              <a:rPr lang="en-CA" dirty="0"/>
              <a:t>Dobson cross-section correction in progress (Xiaoyi)</a:t>
            </a:r>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13</a:t>
            </a:fld>
            <a:endParaRPr lang="en-US" altLang="en-US"/>
          </a:p>
        </p:txBody>
      </p:sp>
    </p:spTree>
    <p:extLst>
      <p:ext uri="{BB962C8B-B14F-4D97-AF65-F5344CB8AC3E}">
        <p14:creationId xmlns:p14="http://schemas.microsoft.com/office/powerpoint/2010/main" val="2346388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WOUDC 2.0</a:t>
            </a:r>
          </a:p>
        </p:txBody>
      </p:sp>
      <p:sp>
        <p:nvSpPr>
          <p:cNvPr id="4" name="Slide Number Placeholder 3"/>
          <p:cNvSpPr>
            <a:spLocks noGrp="1"/>
          </p:cNvSpPr>
          <p:nvPr>
            <p:ph type="sldNum" sz="quarter" idx="12"/>
          </p:nvPr>
        </p:nvSpPr>
        <p:spPr/>
        <p:txBody>
          <a:bodyPr/>
          <a:lstStyle/>
          <a:p>
            <a:fld id="{5CE84AB2-A68C-446D-B258-F807154688F9}" type="slidenum">
              <a:rPr lang="en-US" smtClean="0"/>
              <a:t>14</a:t>
            </a:fld>
            <a:endParaRPr lang="en-US" dirty="0"/>
          </a:p>
        </p:txBody>
      </p:sp>
      <p:pic>
        <p:nvPicPr>
          <p:cNvPr id="3" name="Picture 2"/>
          <p:cNvPicPr>
            <a:picLocks noChangeAspect="1"/>
          </p:cNvPicPr>
          <p:nvPr/>
        </p:nvPicPr>
        <p:blipFill>
          <a:blip r:embed="rId2"/>
          <a:stretch>
            <a:fillRect/>
          </a:stretch>
        </p:blipFill>
        <p:spPr>
          <a:xfrm>
            <a:off x="1981201" y="4167354"/>
            <a:ext cx="5199335" cy="2371560"/>
          </a:xfrm>
          <a:prstGeom prst="rect">
            <a:avLst/>
          </a:prstGeom>
        </p:spPr>
      </p:pic>
      <p:pic>
        <p:nvPicPr>
          <p:cNvPr id="8" name="Picture 7"/>
          <p:cNvPicPr>
            <a:picLocks noChangeAspect="1"/>
          </p:cNvPicPr>
          <p:nvPr/>
        </p:nvPicPr>
        <p:blipFill>
          <a:blip r:embed="rId3"/>
          <a:stretch>
            <a:fillRect/>
          </a:stretch>
        </p:blipFill>
        <p:spPr>
          <a:xfrm>
            <a:off x="1883070" y="476673"/>
            <a:ext cx="4212931" cy="3172287"/>
          </a:xfrm>
          <a:prstGeom prst="rect">
            <a:avLst/>
          </a:prstGeom>
        </p:spPr>
      </p:pic>
      <p:pic>
        <p:nvPicPr>
          <p:cNvPr id="9" name="Picture 8"/>
          <p:cNvPicPr>
            <a:picLocks noChangeAspect="1"/>
          </p:cNvPicPr>
          <p:nvPr/>
        </p:nvPicPr>
        <p:blipFill>
          <a:blip r:embed="rId4"/>
          <a:stretch>
            <a:fillRect/>
          </a:stretch>
        </p:blipFill>
        <p:spPr>
          <a:xfrm>
            <a:off x="4140784" y="1417639"/>
            <a:ext cx="6518349" cy="4012925"/>
          </a:xfrm>
          <a:prstGeom prst="rect">
            <a:avLst/>
          </a:prstGeom>
        </p:spPr>
      </p:pic>
      <p:pic>
        <p:nvPicPr>
          <p:cNvPr id="7" name="Picture 6"/>
          <p:cNvPicPr>
            <a:picLocks noChangeAspect="1"/>
          </p:cNvPicPr>
          <p:nvPr/>
        </p:nvPicPr>
        <p:blipFill>
          <a:blip r:embed="rId5"/>
          <a:stretch>
            <a:fillRect/>
          </a:stretch>
        </p:blipFill>
        <p:spPr>
          <a:xfrm>
            <a:off x="4854242" y="890965"/>
            <a:ext cx="5829066" cy="5617314"/>
          </a:xfrm>
          <a:prstGeom prst="rect">
            <a:avLst/>
          </a:prstGeom>
        </p:spPr>
      </p:pic>
    </p:spTree>
    <p:extLst>
      <p:ext uri="{BB962C8B-B14F-4D97-AF65-F5344CB8AC3E}">
        <p14:creationId xmlns:p14="http://schemas.microsoft.com/office/powerpoint/2010/main" val="163820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77C2AB79-30A5-7182-5920-B39C747B9E3E}"/>
              </a:ext>
            </a:extLst>
          </p:cNvPr>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2204653" flipV="1">
            <a:off x="2795501" y="3112018"/>
            <a:ext cx="2581245" cy="166084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9DA65FD0-19D6-B07C-612C-297B71149B34}"/>
              </a:ext>
            </a:extLst>
          </p:cNvPr>
          <p:cNvSpPr txBox="1">
            <a:spLocks/>
          </p:cNvSpPr>
          <p:nvPr/>
        </p:nvSpPr>
        <p:spPr>
          <a:xfrm>
            <a:off x="655902" y="836304"/>
            <a:ext cx="6661068" cy="222565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3600" b="1" kern="1200">
                <a:solidFill>
                  <a:schemeClr val="bg1">
                    <a:lumMod val="95000"/>
                  </a:schemeClr>
                </a:solidFill>
                <a:latin typeface="Lato" panose="020F0502020204030203" pitchFamily="34" charset="0"/>
                <a:ea typeface="+mj-ea"/>
                <a:cs typeface="+mj-cs"/>
              </a:defRPr>
            </a:lvl1pPr>
          </a:lstStyle>
          <a:p>
            <a:pPr>
              <a:lnSpc>
                <a:spcPct val="120000"/>
              </a:lnSpc>
            </a:pPr>
            <a:r>
              <a:rPr lang="en-US" sz="1800" dirty="0">
                <a:solidFill>
                  <a:schemeClr val="tx1"/>
                </a:solidFill>
                <a:latin typeface="+mn-lt"/>
              </a:rPr>
              <a:t>1963 </a:t>
            </a:r>
            <a:r>
              <a:rPr lang="en-US" sz="1800" b="0" dirty="0">
                <a:solidFill>
                  <a:schemeClr val="tx1"/>
                </a:solidFill>
                <a:latin typeface="+mn-lt"/>
              </a:rPr>
              <a:t>World Weather Watch</a:t>
            </a:r>
          </a:p>
          <a:p>
            <a:pPr>
              <a:lnSpc>
                <a:spcPct val="120000"/>
              </a:lnSpc>
            </a:pPr>
            <a:r>
              <a:rPr lang="en-US" sz="1800" b="0" dirty="0">
                <a:solidFill>
                  <a:schemeClr val="tx1"/>
                </a:solidFill>
                <a:latin typeface="+mn-lt"/>
              </a:rPr>
              <a:t>    </a:t>
            </a:r>
            <a:r>
              <a:rPr lang="en-US" sz="1800" dirty="0">
                <a:solidFill>
                  <a:schemeClr val="tx1"/>
                </a:solidFill>
                <a:latin typeface="+mn-lt"/>
              </a:rPr>
              <a:t>1970s</a:t>
            </a:r>
            <a:r>
              <a:rPr lang="en-US" sz="1800" b="0" dirty="0">
                <a:solidFill>
                  <a:schemeClr val="tx1"/>
                </a:solidFill>
                <a:latin typeface="+mn-lt"/>
              </a:rPr>
              <a:t> Global Telecommunication System (GTS)</a:t>
            </a:r>
          </a:p>
          <a:p>
            <a:pPr>
              <a:lnSpc>
                <a:spcPct val="120000"/>
              </a:lnSpc>
            </a:pPr>
            <a:r>
              <a:rPr lang="en-US" sz="1800" b="0" dirty="0">
                <a:solidFill>
                  <a:schemeClr val="tx1"/>
                </a:solidFill>
                <a:latin typeface="+mn-lt"/>
              </a:rPr>
              <a:t>        </a:t>
            </a:r>
            <a:r>
              <a:rPr lang="en-US" sz="1800" dirty="0">
                <a:solidFill>
                  <a:schemeClr val="tx1"/>
                </a:solidFill>
                <a:latin typeface="+mn-lt"/>
              </a:rPr>
              <a:t>2007</a:t>
            </a:r>
            <a:r>
              <a:rPr lang="en-US" sz="1800" b="0" dirty="0">
                <a:solidFill>
                  <a:schemeClr val="tx1"/>
                </a:solidFill>
                <a:latin typeface="+mn-lt"/>
              </a:rPr>
              <a:t> WMO Information System (WIS)</a:t>
            </a:r>
          </a:p>
          <a:p>
            <a:pPr>
              <a:lnSpc>
                <a:spcPct val="120000"/>
              </a:lnSpc>
            </a:pPr>
            <a:r>
              <a:rPr lang="en-US" sz="1800" dirty="0">
                <a:solidFill>
                  <a:srgbClr val="C00000"/>
                </a:solidFill>
                <a:latin typeface="+mn-lt"/>
              </a:rPr>
              <a:t>            2019</a:t>
            </a:r>
            <a:r>
              <a:rPr lang="en-US" sz="1800" b="0" dirty="0">
                <a:solidFill>
                  <a:srgbClr val="C00000"/>
                </a:solidFill>
                <a:latin typeface="+mn-lt"/>
              </a:rPr>
              <a:t> WMO Reform (Earth System Approach)</a:t>
            </a:r>
          </a:p>
          <a:p>
            <a:pPr>
              <a:lnSpc>
                <a:spcPct val="120000"/>
              </a:lnSpc>
            </a:pPr>
            <a:r>
              <a:rPr lang="en-US" sz="1800" b="0" dirty="0">
                <a:solidFill>
                  <a:srgbClr val="C00000"/>
                </a:solidFill>
                <a:latin typeface="+mn-lt"/>
              </a:rPr>
              <a:t>                </a:t>
            </a:r>
            <a:r>
              <a:rPr lang="en-US" sz="1800" dirty="0">
                <a:solidFill>
                  <a:srgbClr val="C00000"/>
                </a:solidFill>
                <a:latin typeface="+mn-lt"/>
              </a:rPr>
              <a:t>2021</a:t>
            </a:r>
            <a:r>
              <a:rPr lang="en-US" sz="1800" b="0" dirty="0">
                <a:solidFill>
                  <a:srgbClr val="C00000"/>
                </a:solidFill>
                <a:latin typeface="+mn-lt"/>
              </a:rPr>
              <a:t> WMO Unified Data Policy (Core, Recommended)</a:t>
            </a:r>
          </a:p>
        </p:txBody>
      </p:sp>
      <p:sp>
        <p:nvSpPr>
          <p:cNvPr id="6" name="TextBox 5">
            <a:extLst>
              <a:ext uri="{FF2B5EF4-FFF2-40B4-BE49-F238E27FC236}">
                <a16:creationId xmlns:a16="http://schemas.microsoft.com/office/drawing/2014/main" id="{653345C7-4939-C8D0-AD10-E9F8C89A710C}"/>
              </a:ext>
            </a:extLst>
          </p:cNvPr>
          <p:cNvSpPr txBox="1"/>
          <p:nvPr/>
        </p:nvSpPr>
        <p:spPr>
          <a:xfrm>
            <a:off x="5402416" y="2882268"/>
            <a:ext cx="6661068" cy="3859518"/>
          </a:xfrm>
          <a:prstGeom prst="rect">
            <a:avLst/>
          </a:prstGeom>
        </p:spPr>
        <p:style>
          <a:lnRef idx="0">
            <a:scrgbClr r="0" g="0" b="0"/>
          </a:lnRef>
          <a:fillRef idx="1001">
            <a:schemeClr val="lt2"/>
          </a:fillRef>
          <a:effectRef idx="0">
            <a:scrgbClr r="0" g="0" b="0"/>
          </a:effectRef>
          <a:fontRef idx="major"/>
        </p:style>
        <p:txBody>
          <a:bodyPr wrap="square" rtlCol="0">
            <a:spAutoFit/>
          </a:bodyPr>
          <a:lstStyle/>
          <a:p>
            <a:pPr algn="ctr">
              <a:lnSpc>
                <a:spcPct val="120000"/>
              </a:lnSpc>
            </a:pPr>
            <a:r>
              <a:rPr lang="en-US" sz="3300" b="1" dirty="0">
                <a:solidFill>
                  <a:schemeClr val="tx2">
                    <a:lumMod val="75000"/>
                  </a:schemeClr>
                </a:solidFill>
              </a:rPr>
              <a:t>WIS 2.0</a:t>
            </a:r>
          </a:p>
          <a:p>
            <a:pPr lvl="1">
              <a:lnSpc>
                <a:spcPct val="120000"/>
              </a:lnSpc>
            </a:pPr>
            <a:r>
              <a:rPr lang="en-US" sz="1600" i="1" dirty="0">
                <a:solidFill>
                  <a:srgbClr val="2A2A2A"/>
                </a:solidFill>
                <a:latin typeface="Arial"/>
              </a:rPr>
              <a:t>… collaborative system of systems using Web-architecture and open standards to provide simple, timely and seamless sharing of trusted data and information …  </a:t>
            </a:r>
          </a:p>
          <a:p>
            <a:pPr marL="600105" lvl="1" indent="-257188">
              <a:lnSpc>
                <a:spcPct val="120000"/>
              </a:lnSpc>
              <a:buFont typeface="Arial" panose="020B0604020202020204" pitchFamily="34" charset="0"/>
              <a:buChar char="•"/>
            </a:pPr>
            <a:r>
              <a:rPr lang="en-US" dirty="0"/>
              <a:t>Open Standards (OGC, W3C, IETF, …)</a:t>
            </a:r>
          </a:p>
          <a:p>
            <a:pPr marL="600105" lvl="1" indent="-257188">
              <a:lnSpc>
                <a:spcPct val="120000"/>
              </a:lnSpc>
              <a:buFont typeface="Arial" panose="020B0604020202020204" pitchFamily="34" charset="0"/>
              <a:buChar char="•"/>
            </a:pPr>
            <a:r>
              <a:rPr lang="en-US" dirty="0"/>
              <a:t>Free and Open Source tooling</a:t>
            </a:r>
          </a:p>
          <a:p>
            <a:pPr marL="600105" lvl="1" indent="-257188">
              <a:lnSpc>
                <a:spcPct val="120000"/>
              </a:lnSpc>
              <a:buFont typeface="Arial" panose="020B0604020202020204" pitchFamily="34" charset="0"/>
              <a:buChar char="•"/>
            </a:pPr>
            <a:r>
              <a:rPr lang="en-US" dirty="0"/>
              <a:t>Data sharing through Web and real-time notifications with publication/subscription (Pub/Sub) protocols</a:t>
            </a:r>
          </a:p>
          <a:p>
            <a:pPr marL="600105" lvl="1" indent="-257188">
              <a:lnSpc>
                <a:spcPct val="120000"/>
              </a:lnSpc>
              <a:buFont typeface="Arial" panose="020B0604020202020204" pitchFamily="34" charset="0"/>
              <a:buChar char="•"/>
            </a:pPr>
            <a:r>
              <a:rPr lang="en-US" dirty="0"/>
              <a:t>Cloud ready (turn-key solutions)</a:t>
            </a:r>
          </a:p>
          <a:p>
            <a:pPr marL="600105" lvl="1" indent="-257188">
              <a:lnSpc>
                <a:spcPct val="120000"/>
              </a:lnSpc>
              <a:buFont typeface="Arial" panose="020B0604020202020204" pitchFamily="34" charset="0"/>
              <a:buChar char="•"/>
            </a:pPr>
            <a:r>
              <a:rPr lang="en-US" dirty="0"/>
              <a:t>Web APIs (Application Programming Interface)</a:t>
            </a:r>
          </a:p>
          <a:p>
            <a:endParaRPr lang="en-US" dirty="0"/>
          </a:p>
        </p:txBody>
      </p:sp>
      <p:sp>
        <p:nvSpPr>
          <p:cNvPr id="7" name="Slide Number Placeholder 4">
            <a:extLst>
              <a:ext uri="{FF2B5EF4-FFF2-40B4-BE49-F238E27FC236}">
                <a16:creationId xmlns:a16="http://schemas.microsoft.com/office/drawing/2014/main" id="{3F6D6503-E125-7ED2-A481-CDC761D7EB5B}"/>
              </a:ext>
            </a:extLst>
          </p:cNvPr>
          <p:cNvSpPr>
            <a:spLocks noGrp="1"/>
          </p:cNvSpPr>
          <p:nvPr>
            <p:ph type="sldNum" sz="quarter" idx="12"/>
          </p:nvPr>
        </p:nvSpPr>
        <p:spPr/>
        <p:txBody>
          <a:bodyPr/>
          <a:lstStyle/>
          <a:p>
            <a:fld id="{0F9F7EA0-3F56-4C7E-9B2D-3423B3AF0281}" type="slidenum">
              <a:rPr lang="en-US" smtClean="0"/>
              <a:pPr/>
              <a:t>15</a:t>
            </a:fld>
            <a:endParaRPr lang="en-US"/>
          </a:p>
        </p:txBody>
      </p:sp>
      <p:grpSp>
        <p:nvGrpSpPr>
          <p:cNvPr id="2" name="Group 1">
            <a:extLst>
              <a:ext uri="{FF2B5EF4-FFF2-40B4-BE49-F238E27FC236}">
                <a16:creationId xmlns:a16="http://schemas.microsoft.com/office/drawing/2014/main" id="{A88C6D21-FDF4-BAD0-A324-D2A41B150E8A}"/>
              </a:ext>
            </a:extLst>
          </p:cNvPr>
          <p:cNvGrpSpPr/>
          <p:nvPr/>
        </p:nvGrpSpPr>
        <p:grpSpPr>
          <a:xfrm>
            <a:off x="9040104" y="1093889"/>
            <a:ext cx="2750932" cy="1415293"/>
            <a:chOff x="1932764" y="3495741"/>
            <a:chExt cx="2750932" cy="1415293"/>
          </a:xfrm>
        </p:grpSpPr>
        <p:pic>
          <p:nvPicPr>
            <p:cNvPr id="9" name="Picture 2" descr="Image result for ietf logo">
              <a:extLst>
                <a:ext uri="{FF2B5EF4-FFF2-40B4-BE49-F238E27FC236}">
                  <a16:creationId xmlns:a16="http://schemas.microsoft.com/office/drawing/2014/main" id="{B52BB85E-43F0-BBFC-C2CA-5D8CE1FEF3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24214" y="4475479"/>
              <a:ext cx="769484" cy="4105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Image result for w3c logo">
              <a:extLst>
                <a:ext uri="{FF2B5EF4-FFF2-40B4-BE49-F238E27FC236}">
                  <a16:creationId xmlns:a16="http://schemas.microsoft.com/office/drawing/2014/main" id="{7697B7A0-3C25-B71B-EBEF-61CF726F33E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32764" y="4185106"/>
              <a:ext cx="602819" cy="4105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ndoorGML OGC">
              <a:extLst>
                <a:ext uri="{FF2B5EF4-FFF2-40B4-BE49-F238E27FC236}">
                  <a16:creationId xmlns:a16="http://schemas.microsoft.com/office/drawing/2014/main" id="{C2FA16F2-B007-7D77-1544-C38FE2B5C8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8163" y="3548623"/>
              <a:ext cx="874840" cy="440189"/>
            </a:xfrm>
            <a:prstGeom prst="rect">
              <a:avLst/>
            </a:prstGeom>
            <a:noFill/>
            <a:extLst>
              <a:ext uri="{909E8E84-426E-40DD-AFC4-6F175D3DCCD1}">
                <a14:hiddenFill xmlns:a14="http://schemas.microsoft.com/office/drawing/2010/main">
                  <a:solidFill>
                    <a:srgbClr val="FFFFFF"/>
                  </a:solidFill>
                </a14:hiddenFill>
              </a:ext>
            </a:extLst>
          </p:spPr>
        </p:pic>
        <p:pic>
          <p:nvPicPr>
            <p:cNvPr id="12" name="Google Shape;119;gbe90d9cf2c_12_0">
              <a:extLst>
                <a:ext uri="{FF2B5EF4-FFF2-40B4-BE49-F238E27FC236}">
                  <a16:creationId xmlns:a16="http://schemas.microsoft.com/office/drawing/2014/main" id="{4F543CFC-B968-2FA9-3621-B96A1E5C5985}"/>
                </a:ext>
              </a:extLst>
            </p:cNvPr>
            <p:cNvPicPr preferRelativeResize="0"/>
            <p:nvPr/>
          </p:nvPicPr>
          <p:blipFill rotWithShape="1">
            <a:blip r:embed="rId7">
              <a:alphaModFix/>
            </a:blip>
            <a:srcRect/>
            <a:stretch/>
          </p:blipFill>
          <p:spPr>
            <a:xfrm rot="411341">
              <a:off x="3000458" y="3939349"/>
              <a:ext cx="944966" cy="390333"/>
            </a:xfrm>
            <a:prstGeom prst="rect">
              <a:avLst/>
            </a:prstGeom>
            <a:noFill/>
            <a:ln>
              <a:noFill/>
            </a:ln>
          </p:spPr>
        </p:pic>
        <p:pic>
          <p:nvPicPr>
            <p:cNvPr id="13" name="Picture 2" descr="4 Ways Cloud Computing Can Save Money | TechnologyAdvice">
              <a:extLst>
                <a:ext uri="{FF2B5EF4-FFF2-40B4-BE49-F238E27FC236}">
                  <a16:creationId xmlns:a16="http://schemas.microsoft.com/office/drawing/2014/main" id="{06511802-AF08-D4AC-525E-FAF11F9C53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6436" y="3495741"/>
              <a:ext cx="697260" cy="49307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PI Integration Quick Start – RunSignup Blog">
              <a:extLst>
                <a:ext uri="{FF2B5EF4-FFF2-40B4-BE49-F238E27FC236}">
                  <a16:creationId xmlns:a16="http://schemas.microsoft.com/office/drawing/2014/main" id="{6F91F6EC-CA86-694B-BCF6-34F65CB5C7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0008" y="4280219"/>
              <a:ext cx="809966" cy="630815"/>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Rectangle 14">
            <a:extLst>
              <a:ext uri="{FF2B5EF4-FFF2-40B4-BE49-F238E27FC236}">
                <a16:creationId xmlns:a16="http://schemas.microsoft.com/office/drawing/2014/main" id="{BF11BC72-B1CF-441D-5F0F-9E19478BA89D}"/>
              </a:ext>
            </a:extLst>
          </p:cNvPr>
          <p:cNvSpPr/>
          <p:nvPr/>
        </p:nvSpPr>
        <p:spPr>
          <a:xfrm>
            <a:off x="-53788" y="-13415"/>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3200" b="1" dirty="0"/>
              <a:t>Evolution of WMO data exchange</a:t>
            </a:r>
            <a:endParaRPr lang="en-US" sz="3200" b="1" dirty="0">
              <a:cs typeface="Calibri"/>
            </a:endParaRPr>
          </a:p>
        </p:txBody>
      </p:sp>
    </p:spTree>
    <p:extLst>
      <p:ext uri="{BB962C8B-B14F-4D97-AF65-F5344CB8AC3E}">
        <p14:creationId xmlns:p14="http://schemas.microsoft.com/office/powerpoint/2010/main" val="1485862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FEC7C5-C3B5-BDC9-30D7-743845A6E474}"/>
              </a:ext>
            </a:extLst>
          </p:cNvPr>
          <p:cNvPicPr>
            <a:picLocks noChangeAspect="1"/>
          </p:cNvPicPr>
          <p:nvPr/>
        </p:nvPicPr>
        <p:blipFill>
          <a:blip r:embed="rId3"/>
          <a:stretch>
            <a:fillRect/>
          </a:stretch>
        </p:blipFill>
        <p:spPr>
          <a:xfrm>
            <a:off x="8054765" y="4397363"/>
            <a:ext cx="899051" cy="822536"/>
          </a:xfrm>
          <a:prstGeom prst="rect">
            <a:avLst/>
          </a:prstGeom>
        </p:spPr>
      </p:pic>
      <p:sp>
        <p:nvSpPr>
          <p:cNvPr id="4" name="TextBox 3">
            <a:extLst>
              <a:ext uri="{FF2B5EF4-FFF2-40B4-BE49-F238E27FC236}">
                <a16:creationId xmlns:a16="http://schemas.microsoft.com/office/drawing/2014/main" id="{8B21D529-B160-833C-1A24-19ACEF0BAD87}"/>
              </a:ext>
            </a:extLst>
          </p:cNvPr>
          <p:cNvSpPr txBox="1"/>
          <p:nvPr/>
        </p:nvSpPr>
        <p:spPr>
          <a:xfrm>
            <a:off x="7820798" y="5254327"/>
            <a:ext cx="1366983" cy="400110"/>
          </a:xfrm>
          <a:prstGeom prst="rect">
            <a:avLst/>
          </a:prstGeom>
          <a:noFill/>
        </p:spPr>
        <p:txBody>
          <a:bodyPr wrap="square" rtlCol="0">
            <a:spAutoFit/>
          </a:bodyPr>
          <a:lstStyle/>
          <a:p>
            <a:pPr defTabSz="914446">
              <a:defRPr/>
            </a:pPr>
            <a:r>
              <a:rPr lang="en-US" sz="2000" b="1" dirty="0">
                <a:solidFill>
                  <a:srgbClr val="1F497D">
                    <a:lumMod val="75000"/>
                  </a:srgbClr>
                </a:solidFill>
                <a:latin typeface="Calibri"/>
              </a:rPr>
              <a:t>WIS2 Node</a:t>
            </a:r>
            <a:endParaRPr lang="en-CH" sz="2000" b="1" dirty="0">
              <a:solidFill>
                <a:srgbClr val="1F497D">
                  <a:lumMod val="75000"/>
                </a:srgbClr>
              </a:solidFill>
              <a:latin typeface="Calibri"/>
            </a:endParaRPr>
          </a:p>
        </p:txBody>
      </p:sp>
      <p:pic>
        <p:nvPicPr>
          <p:cNvPr id="18" name="Picture 17" descr="Icon&#10;&#10;Description automatically generated">
            <a:extLst>
              <a:ext uri="{FF2B5EF4-FFF2-40B4-BE49-F238E27FC236}">
                <a16:creationId xmlns:a16="http://schemas.microsoft.com/office/drawing/2014/main" id="{88BF3DF9-8593-5260-BFDD-7561B41D22AA}"/>
              </a:ext>
            </a:extLst>
          </p:cNvPr>
          <p:cNvPicPr>
            <a:picLocks noChangeAspect="1"/>
          </p:cNvPicPr>
          <p:nvPr/>
        </p:nvPicPr>
        <p:blipFill>
          <a:blip r:embed="rId4"/>
          <a:stretch>
            <a:fillRect/>
          </a:stretch>
        </p:blipFill>
        <p:spPr>
          <a:xfrm>
            <a:off x="10572307" y="630929"/>
            <a:ext cx="904768" cy="904768"/>
          </a:xfrm>
          <a:prstGeom prst="rect">
            <a:avLst/>
          </a:prstGeom>
        </p:spPr>
      </p:pic>
      <p:pic>
        <p:nvPicPr>
          <p:cNvPr id="20" name="Picture 19" descr="Icon&#10;&#10;Description automatically generated">
            <a:extLst>
              <a:ext uri="{FF2B5EF4-FFF2-40B4-BE49-F238E27FC236}">
                <a16:creationId xmlns:a16="http://schemas.microsoft.com/office/drawing/2014/main" id="{C9FE0BCB-B428-D476-6DCE-9B8FDEDAD772}"/>
              </a:ext>
            </a:extLst>
          </p:cNvPr>
          <p:cNvPicPr>
            <a:picLocks noChangeAspect="1"/>
          </p:cNvPicPr>
          <p:nvPr/>
        </p:nvPicPr>
        <p:blipFill>
          <a:blip r:embed="rId4"/>
          <a:stretch>
            <a:fillRect/>
          </a:stretch>
        </p:blipFill>
        <p:spPr>
          <a:xfrm>
            <a:off x="10643142" y="1538311"/>
            <a:ext cx="904768" cy="904768"/>
          </a:xfrm>
          <a:prstGeom prst="rect">
            <a:avLst/>
          </a:prstGeom>
        </p:spPr>
      </p:pic>
      <p:pic>
        <p:nvPicPr>
          <p:cNvPr id="75" name="Picture 74">
            <a:extLst>
              <a:ext uri="{FF2B5EF4-FFF2-40B4-BE49-F238E27FC236}">
                <a16:creationId xmlns:a16="http://schemas.microsoft.com/office/drawing/2014/main" id="{154927DA-1C69-D06B-49CF-39CD8B9DB42C}"/>
              </a:ext>
            </a:extLst>
          </p:cNvPr>
          <p:cNvPicPr>
            <a:picLocks noChangeAspect="1"/>
          </p:cNvPicPr>
          <p:nvPr/>
        </p:nvPicPr>
        <p:blipFill>
          <a:blip r:embed="rId3"/>
          <a:stretch>
            <a:fillRect/>
          </a:stretch>
        </p:blipFill>
        <p:spPr>
          <a:xfrm>
            <a:off x="9171385" y="4777724"/>
            <a:ext cx="899051" cy="822536"/>
          </a:xfrm>
          <a:prstGeom prst="rect">
            <a:avLst/>
          </a:prstGeom>
        </p:spPr>
      </p:pic>
      <p:sp>
        <p:nvSpPr>
          <p:cNvPr id="76" name="TextBox 75">
            <a:extLst>
              <a:ext uri="{FF2B5EF4-FFF2-40B4-BE49-F238E27FC236}">
                <a16:creationId xmlns:a16="http://schemas.microsoft.com/office/drawing/2014/main" id="{4FB2B02D-CF62-4E73-7918-93F4E6BA479D}"/>
              </a:ext>
            </a:extLst>
          </p:cNvPr>
          <p:cNvSpPr txBox="1"/>
          <p:nvPr/>
        </p:nvSpPr>
        <p:spPr>
          <a:xfrm>
            <a:off x="8937418" y="5634689"/>
            <a:ext cx="1366983" cy="400110"/>
          </a:xfrm>
          <a:prstGeom prst="rect">
            <a:avLst/>
          </a:prstGeom>
          <a:noFill/>
        </p:spPr>
        <p:txBody>
          <a:bodyPr wrap="square" rtlCol="0">
            <a:spAutoFit/>
          </a:bodyPr>
          <a:lstStyle/>
          <a:p>
            <a:pPr defTabSz="914446">
              <a:defRPr/>
            </a:pPr>
            <a:r>
              <a:rPr lang="en-US" sz="2000" b="1" dirty="0">
                <a:solidFill>
                  <a:srgbClr val="1F497D">
                    <a:lumMod val="75000"/>
                  </a:srgbClr>
                </a:solidFill>
                <a:latin typeface="Calibri"/>
              </a:rPr>
              <a:t>WIS2 Node</a:t>
            </a:r>
            <a:endParaRPr lang="en-CH" sz="2000" b="1" dirty="0">
              <a:solidFill>
                <a:srgbClr val="1F497D">
                  <a:lumMod val="75000"/>
                </a:srgbClr>
              </a:solidFill>
              <a:latin typeface="Calibri"/>
            </a:endParaRPr>
          </a:p>
        </p:txBody>
      </p:sp>
      <p:pic>
        <p:nvPicPr>
          <p:cNvPr id="80" name="Picture 79">
            <a:extLst>
              <a:ext uri="{FF2B5EF4-FFF2-40B4-BE49-F238E27FC236}">
                <a16:creationId xmlns:a16="http://schemas.microsoft.com/office/drawing/2014/main" id="{A98FE3F6-A0F9-2918-9480-B4930FEA30BF}"/>
              </a:ext>
            </a:extLst>
          </p:cNvPr>
          <p:cNvPicPr>
            <a:picLocks noChangeAspect="1"/>
          </p:cNvPicPr>
          <p:nvPr/>
        </p:nvPicPr>
        <p:blipFill>
          <a:blip r:embed="rId3"/>
          <a:stretch>
            <a:fillRect/>
          </a:stretch>
        </p:blipFill>
        <p:spPr>
          <a:xfrm>
            <a:off x="10380578" y="5043276"/>
            <a:ext cx="899051" cy="822536"/>
          </a:xfrm>
          <a:prstGeom prst="rect">
            <a:avLst/>
          </a:prstGeom>
        </p:spPr>
      </p:pic>
      <p:sp>
        <p:nvSpPr>
          <p:cNvPr id="81" name="TextBox 80">
            <a:extLst>
              <a:ext uri="{FF2B5EF4-FFF2-40B4-BE49-F238E27FC236}">
                <a16:creationId xmlns:a16="http://schemas.microsoft.com/office/drawing/2014/main" id="{FE60D2F8-7A7B-DD8F-7241-28A106663DA0}"/>
              </a:ext>
            </a:extLst>
          </p:cNvPr>
          <p:cNvSpPr txBox="1"/>
          <p:nvPr/>
        </p:nvSpPr>
        <p:spPr>
          <a:xfrm>
            <a:off x="10146611" y="5900241"/>
            <a:ext cx="1366983" cy="400110"/>
          </a:xfrm>
          <a:prstGeom prst="rect">
            <a:avLst/>
          </a:prstGeom>
          <a:noFill/>
        </p:spPr>
        <p:txBody>
          <a:bodyPr wrap="square" rtlCol="0">
            <a:spAutoFit/>
          </a:bodyPr>
          <a:lstStyle/>
          <a:p>
            <a:pPr defTabSz="914446">
              <a:defRPr/>
            </a:pPr>
            <a:r>
              <a:rPr lang="en-US" sz="2000" b="1" dirty="0">
                <a:solidFill>
                  <a:srgbClr val="1F497D">
                    <a:lumMod val="75000"/>
                  </a:srgbClr>
                </a:solidFill>
                <a:latin typeface="Calibri"/>
              </a:rPr>
              <a:t>WIS2 Node</a:t>
            </a:r>
            <a:endParaRPr lang="en-CH" sz="2000" b="1" dirty="0">
              <a:solidFill>
                <a:srgbClr val="1F497D">
                  <a:lumMod val="75000"/>
                </a:srgbClr>
              </a:solidFill>
              <a:latin typeface="Calibri"/>
            </a:endParaRPr>
          </a:p>
        </p:txBody>
      </p:sp>
      <p:sp>
        <p:nvSpPr>
          <p:cNvPr id="86" name="TextBox 85">
            <a:extLst>
              <a:ext uri="{FF2B5EF4-FFF2-40B4-BE49-F238E27FC236}">
                <a16:creationId xmlns:a16="http://schemas.microsoft.com/office/drawing/2014/main" id="{4D878623-67D4-C5B0-DD7F-AC69FF46AFC0}"/>
              </a:ext>
            </a:extLst>
          </p:cNvPr>
          <p:cNvSpPr txBox="1"/>
          <p:nvPr/>
        </p:nvSpPr>
        <p:spPr>
          <a:xfrm>
            <a:off x="11362766" y="3771901"/>
            <a:ext cx="184731" cy="369332"/>
          </a:xfrm>
          <a:prstGeom prst="rect">
            <a:avLst/>
          </a:prstGeom>
          <a:noFill/>
        </p:spPr>
        <p:txBody>
          <a:bodyPr wrap="none" rtlCol="0">
            <a:spAutoFit/>
          </a:bodyPr>
          <a:lstStyle/>
          <a:p>
            <a:pPr defTabSz="914446">
              <a:defRPr/>
            </a:pPr>
            <a:endParaRPr lang="en-CH" dirty="0">
              <a:solidFill>
                <a:prstClr val="black"/>
              </a:solidFill>
              <a:latin typeface="Calibri"/>
            </a:endParaRPr>
          </a:p>
        </p:txBody>
      </p:sp>
      <p:sp>
        <p:nvSpPr>
          <p:cNvPr id="5" name="Rectangle: Rounded Corners 4">
            <a:extLst>
              <a:ext uri="{FF2B5EF4-FFF2-40B4-BE49-F238E27FC236}">
                <a16:creationId xmlns:a16="http://schemas.microsoft.com/office/drawing/2014/main" id="{5FDE82E5-5979-2347-B262-4076F775BB9C}"/>
              </a:ext>
            </a:extLst>
          </p:cNvPr>
          <p:cNvSpPr/>
          <p:nvPr/>
        </p:nvSpPr>
        <p:spPr>
          <a:xfrm>
            <a:off x="7572500" y="3910940"/>
            <a:ext cx="4153426" cy="2592780"/>
          </a:xfrm>
          <a:prstGeom prst="roundRect">
            <a:avLst>
              <a:gd name="adj" fmla="val 7113"/>
            </a:avLst>
          </a:prstGeom>
          <a:noFill/>
          <a:ln>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00F0E71-DF08-3A7C-DBA4-85F60378B09A}"/>
              </a:ext>
            </a:extLst>
          </p:cNvPr>
          <p:cNvSpPr/>
          <p:nvPr/>
        </p:nvSpPr>
        <p:spPr>
          <a:xfrm>
            <a:off x="-53788" y="-13415"/>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914446">
              <a:defRPr/>
            </a:pPr>
            <a:r>
              <a:rPr lang="en-CH" sz="3200" b="1" dirty="0">
                <a:solidFill>
                  <a:prstClr val="white"/>
                </a:solidFill>
                <a:latin typeface="Calibri"/>
              </a:rPr>
              <a:t>WIS2</a:t>
            </a:r>
            <a:r>
              <a:rPr lang="en-GB" sz="3200" b="1" dirty="0">
                <a:solidFill>
                  <a:prstClr val="white"/>
                </a:solidFill>
                <a:latin typeface="Calibri"/>
              </a:rPr>
              <a:t> Components: WIS2 Nodes</a:t>
            </a:r>
            <a:endParaRPr lang="en-CH" sz="3200" b="1" dirty="0">
              <a:solidFill>
                <a:prstClr val="white"/>
              </a:solidFill>
              <a:latin typeface="Calibri"/>
            </a:endParaRPr>
          </a:p>
        </p:txBody>
      </p:sp>
      <p:pic>
        <p:nvPicPr>
          <p:cNvPr id="40" name="Picture 39" descr="Icon&#10;&#10;Description automatically generated">
            <a:extLst>
              <a:ext uri="{FF2B5EF4-FFF2-40B4-BE49-F238E27FC236}">
                <a16:creationId xmlns:a16="http://schemas.microsoft.com/office/drawing/2014/main" id="{DFA32660-E023-367E-D876-B90B367A2B50}"/>
              </a:ext>
            </a:extLst>
          </p:cNvPr>
          <p:cNvPicPr>
            <a:picLocks noChangeAspect="1"/>
          </p:cNvPicPr>
          <p:nvPr/>
        </p:nvPicPr>
        <p:blipFill rotWithShape="1">
          <a:blip r:embed="rId4"/>
          <a:srcRect l="12197" r="7526"/>
          <a:stretch/>
        </p:blipFill>
        <p:spPr>
          <a:xfrm>
            <a:off x="11362765" y="1078590"/>
            <a:ext cx="726320" cy="904768"/>
          </a:xfrm>
          <a:prstGeom prst="rect">
            <a:avLst/>
          </a:prstGeom>
        </p:spPr>
      </p:pic>
      <p:sp>
        <p:nvSpPr>
          <p:cNvPr id="9" name="TextBox 8">
            <a:extLst>
              <a:ext uri="{FF2B5EF4-FFF2-40B4-BE49-F238E27FC236}">
                <a16:creationId xmlns:a16="http://schemas.microsoft.com/office/drawing/2014/main" id="{3F8C14D9-A3F0-2913-669E-79C90917FBC3}"/>
              </a:ext>
            </a:extLst>
          </p:cNvPr>
          <p:cNvSpPr txBox="1"/>
          <p:nvPr/>
        </p:nvSpPr>
        <p:spPr>
          <a:xfrm>
            <a:off x="10227935" y="1336458"/>
            <a:ext cx="1366983" cy="369332"/>
          </a:xfrm>
          <a:prstGeom prst="rect">
            <a:avLst/>
          </a:prstGeom>
          <a:noFill/>
        </p:spPr>
        <p:txBody>
          <a:bodyPr wrap="square" rtlCol="0">
            <a:spAutoFit/>
          </a:bodyPr>
          <a:lstStyle/>
          <a:p>
            <a:pPr algn="ctr" defTabSz="914446">
              <a:defRPr/>
            </a:pPr>
            <a:r>
              <a:rPr lang="en-US" b="1" dirty="0">
                <a:solidFill>
                  <a:srgbClr val="1F497D">
                    <a:lumMod val="75000"/>
                  </a:srgbClr>
                </a:solidFill>
                <a:latin typeface="Calibri"/>
              </a:rPr>
              <a:t>Data users</a:t>
            </a:r>
            <a:endParaRPr lang="en-CH" b="1" dirty="0">
              <a:solidFill>
                <a:srgbClr val="1F497D">
                  <a:lumMod val="75000"/>
                </a:srgbClr>
              </a:solidFill>
              <a:latin typeface="Calibri"/>
            </a:endParaRPr>
          </a:p>
        </p:txBody>
      </p:sp>
      <p:cxnSp>
        <p:nvCxnSpPr>
          <p:cNvPr id="15" name="Straight Connector 14">
            <a:extLst>
              <a:ext uri="{FF2B5EF4-FFF2-40B4-BE49-F238E27FC236}">
                <a16:creationId xmlns:a16="http://schemas.microsoft.com/office/drawing/2014/main" id="{54AD4C52-1D49-B5D8-134A-AC37F59117BA}"/>
              </a:ext>
            </a:extLst>
          </p:cNvPr>
          <p:cNvCxnSpPr>
            <a:cxnSpLocks/>
          </p:cNvCxnSpPr>
          <p:nvPr/>
        </p:nvCxnSpPr>
        <p:spPr>
          <a:xfrm>
            <a:off x="8777423" y="3040084"/>
            <a:ext cx="0" cy="1282070"/>
          </a:xfrm>
          <a:prstGeom prst="line">
            <a:avLst/>
          </a:prstGeom>
          <a:ln w="9525" cap="flat" cmpd="sng" algn="ctr">
            <a:solidFill>
              <a:schemeClr val="accent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1E4F4EDD-17E7-5B33-902F-A7C6FDF410EC}"/>
              </a:ext>
            </a:extLst>
          </p:cNvPr>
          <p:cNvCxnSpPr>
            <a:cxnSpLocks/>
          </p:cNvCxnSpPr>
          <p:nvPr/>
        </p:nvCxnSpPr>
        <p:spPr>
          <a:xfrm>
            <a:off x="9610915" y="3040084"/>
            <a:ext cx="0" cy="1282070"/>
          </a:xfrm>
          <a:prstGeom prst="line">
            <a:avLst/>
          </a:prstGeom>
          <a:ln w="9525" cap="flat" cmpd="sng" algn="ctr">
            <a:solidFill>
              <a:schemeClr val="accent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62BDB199-6CEF-ED02-F91B-A79E07AC643D}"/>
              </a:ext>
            </a:extLst>
          </p:cNvPr>
          <p:cNvCxnSpPr>
            <a:cxnSpLocks/>
          </p:cNvCxnSpPr>
          <p:nvPr/>
        </p:nvCxnSpPr>
        <p:spPr>
          <a:xfrm>
            <a:off x="9195696" y="2766952"/>
            <a:ext cx="0" cy="1555202"/>
          </a:xfrm>
          <a:prstGeom prst="line">
            <a:avLst/>
          </a:prstGeom>
          <a:ln w="9525" cap="flat" cmpd="sng" algn="ctr">
            <a:solidFill>
              <a:schemeClr val="accent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31" name="TextBox 30">
            <a:extLst>
              <a:ext uri="{FF2B5EF4-FFF2-40B4-BE49-F238E27FC236}">
                <a16:creationId xmlns:a16="http://schemas.microsoft.com/office/drawing/2014/main" id="{E4838184-F091-57AA-5E09-944E2F871DC2}"/>
              </a:ext>
            </a:extLst>
          </p:cNvPr>
          <p:cNvSpPr txBox="1"/>
          <p:nvPr/>
        </p:nvSpPr>
        <p:spPr>
          <a:xfrm>
            <a:off x="6389050" y="3180839"/>
            <a:ext cx="2366899" cy="461665"/>
          </a:xfrm>
          <a:prstGeom prst="rect">
            <a:avLst/>
          </a:prstGeom>
          <a:noFill/>
        </p:spPr>
        <p:txBody>
          <a:bodyPr wrap="square" rtlCol="0">
            <a:spAutoFit/>
          </a:bodyPr>
          <a:lstStyle/>
          <a:p>
            <a:pPr algn="r" defTabSz="914446">
              <a:defRPr/>
            </a:pPr>
            <a:r>
              <a:rPr lang="en-US" sz="1200" b="1" dirty="0">
                <a:solidFill>
                  <a:srgbClr val="1F497D">
                    <a:lumMod val="75000"/>
                  </a:srgbClr>
                </a:solidFill>
                <a:latin typeface="Calibri"/>
              </a:rPr>
              <a:t>Publishes Core and Recommended data</a:t>
            </a:r>
            <a:endParaRPr lang="en-CH" sz="1200" b="1" dirty="0">
              <a:solidFill>
                <a:srgbClr val="1F497D">
                  <a:lumMod val="75000"/>
                </a:srgbClr>
              </a:solidFill>
              <a:latin typeface="Calibri"/>
            </a:endParaRPr>
          </a:p>
        </p:txBody>
      </p:sp>
      <p:sp>
        <p:nvSpPr>
          <p:cNvPr id="32" name="TextBox 31">
            <a:extLst>
              <a:ext uri="{FF2B5EF4-FFF2-40B4-BE49-F238E27FC236}">
                <a16:creationId xmlns:a16="http://schemas.microsoft.com/office/drawing/2014/main" id="{FCE88C69-2057-E8CC-0C4B-32620F3A36EA}"/>
              </a:ext>
            </a:extLst>
          </p:cNvPr>
          <p:cNvSpPr txBox="1"/>
          <p:nvPr/>
        </p:nvSpPr>
        <p:spPr>
          <a:xfrm>
            <a:off x="9595084" y="3198168"/>
            <a:ext cx="2366899" cy="461665"/>
          </a:xfrm>
          <a:prstGeom prst="rect">
            <a:avLst/>
          </a:prstGeom>
          <a:noFill/>
        </p:spPr>
        <p:txBody>
          <a:bodyPr wrap="square" rtlCol="0">
            <a:spAutoFit/>
          </a:bodyPr>
          <a:lstStyle/>
          <a:p>
            <a:pPr defTabSz="914446">
              <a:defRPr/>
            </a:pPr>
            <a:r>
              <a:rPr lang="en-US" sz="1200" b="1" dirty="0">
                <a:solidFill>
                  <a:srgbClr val="1F497D">
                    <a:lumMod val="75000"/>
                  </a:srgbClr>
                </a:solidFill>
                <a:latin typeface="Calibri"/>
              </a:rPr>
              <a:t>Advertises what data is available (discovery metadata)</a:t>
            </a:r>
            <a:endParaRPr lang="en-CH" sz="1200" b="1" dirty="0">
              <a:solidFill>
                <a:srgbClr val="1F497D">
                  <a:lumMod val="75000"/>
                </a:srgbClr>
              </a:solidFill>
              <a:latin typeface="Calibri"/>
            </a:endParaRPr>
          </a:p>
        </p:txBody>
      </p:sp>
      <p:sp>
        <p:nvSpPr>
          <p:cNvPr id="34" name="TextBox 33">
            <a:extLst>
              <a:ext uri="{FF2B5EF4-FFF2-40B4-BE49-F238E27FC236}">
                <a16:creationId xmlns:a16="http://schemas.microsoft.com/office/drawing/2014/main" id="{4432E013-4C15-2296-51B5-02E134AD5B44}"/>
              </a:ext>
            </a:extLst>
          </p:cNvPr>
          <p:cNvSpPr txBox="1"/>
          <p:nvPr/>
        </p:nvSpPr>
        <p:spPr>
          <a:xfrm>
            <a:off x="7670619" y="2432423"/>
            <a:ext cx="3050155" cy="276999"/>
          </a:xfrm>
          <a:prstGeom prst="rect">
            <a:avLst/>
          </a:prstGeom>
          <a:noFill/>
        </p:spPr>
        <p:txBody>
          <a:bodyPr wrap="square" rtlCol="0">
            <a:spAutoFit/>
          </a:bodyPr>
          <a:lstStyle/>
          <a:p>
            <a:pPr algn="ctr" defTabSz="914446">
              <a:defRPr/>
            </a:pPr>
            <a:r>
              <a:rPr lang="en-US" sz="1200" b="1" dirty="0">
                <a:solidFill>
                  <a:srgbClr val="1F497D">
                    <a:lumMod val="75000"/>
                  </a:srgbClr>
                </a:solidFill>
                <a:latin typeface="Calibri"/>
              </a:rPr>
              <a:t>Publishes real-time notifications about data</a:t>
            </a:r>
            <a:endParaRPr lang="en-CH" sz="1200" b="1" dirty="0">
              <a:solidFill>
                <a:srgbClr val="1F497D">
                  <a:lumMod val="75000"/>
                </a:srgbClr>
              </a:solidFill>
              <a:latin typeface="Calibri"/>
            </a:endParaRPr>
          </a:p>
        </p:txBody>
      </p:sp>
      <p:grpSp>
        <p:nvGrpSpPr>
          <p:cNvPr id="49" name="Group 48">
            <a:extLst>
              <a:ext uri="{FF2B5EF4-FFF2-40B4-BE49-F238E27FC236}">
                <a16:creationId xmlns:a16="http://schemas.microsoft.com/office/drawing/2014/main" id="{FA187C05-5000-1B58-7FC4-CF832DCAEEC6}"/>
              </a:ext>
            </a:extLst>
          </p:cNvPr>
          <p:cNvGrpSpPr/>
          <p:nvPr/>
        </p:nvGrpSpPr>
        <p:grpSpPr>
          <a:xfrm>
            <a:off x="1257030" y="1884806"/>
            <a:ext cx="4307462" cy="618767"/>
            <a:chOff x="1239654" y="876"/>
            <a:chExt cx="4307462" cy="618767"/>
          </a:xfrm>
        </p:grpSpPr>
        <p:sp>
          <p:nvSpPr>
            <p:cNvPr id="70" name="Arrow: Pentagon 69">
              <a:extLst>
                <a:ext uri="{FF2B5EF4-FFF2-40B4-BE49-F238E27FC236}">
                  <a16:creationId xmlns:a16="http://schemas.microsoft.com/office/drawing/2014/main" id="{9E258BAD-6C80-E775-E3AE-B5EA2460423D}"/>
                </a:ext>
              </a:extLst>
            </p:cNvPr>
            <p:cNvSpPr/>
            <p:nvPr/>
          </p:nvSpPr>
          <p:spPr>
            <a:xfrm rot="10800000">
              <a:off x="1239654" y="876"/>
              <a:ext cx="4307462" cy="618767"/>
            </a:xfrm>
            <a:prstGeom prst="homePlate">
              <a:avLst/>
            </a:pr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71" name="Arrow: Pentagon 4">
              <a:extLst>
                <a:ext uri="{FF2B5EF4-FFF2-40B4-BE49-F238E27FC236}">
                  <a16:creationId xmlns:a16="http://schemas.microsoft.com/office/drawing/2014/main" id="{BEB685CC-DF1B-582F-897B-B21313841852}"/>
                </a:ext>
              </a:extLst>
            </p:cNvPr>
            <p:cNvSpPr txBox="1"/>
            <p:nvPr/>
          </p:nvSpPr>
          <p:spPr>
            <a:xfrm rot="21600000">
              <a:off x="1394346" y="876"/>
              <a:ext cx="4152770" cy="618767"/>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72859" tIns="57150" rIns="106680" bIns="57150" numCol="1" spcCol="1270" anchor="ctr" anchorCtr="0">
              <a:noAutofit/>
            </a:bodyPr>
            <a:lstStyle/>
            <a:p>
              <a:pPr defTabSz="666783">
                <a:lnSpc>
                  <a:spcPct val="90000"/>
                </a:lnSpc>
                <a:spcBef>
                  <a:spcPct val="0"/>
                </a:spcBef>
                <a:spcAft>
                  <a:spcPct val="35000"/>
                </a:spcAft>
              </a:pPr>
              <a:r>
                <a:rPr lang="en-US" sz="1500" dirty="0">
                  <a:solidFill>
                    <a:srgbClr val="002060"/>
                  </a:solidFill>
                </a:rPr>
                <a:t>Each WMO Member shall implement at least one WIS2 Node to share data in WIS2</a:t>
              </a:r>
              <a:endParaRPr lang="en-CH" sz="1500" dirty="0"/>
            </a:p>
          </p:txBody>
        </p:sp>
      </p:grpSp>
      <p:sp>
        <p:nvSpPr>
          <p:cNvPr id="50" name="Oval 49">
            <a:extLst>
              <a:ext uri="{FF2B5EF4-FFF2-40B4-BE49-F238E27FC236}">
                <a16:creationId xmlns:a16="http://schemas.microsoft.com/office/drawing/2014/main" id="{9907F8A9-15EC-4171-066D-D5911F10965A}"/>
              </a:ext>
            </a:extLst>
          </p:cNvPr>
          <p:cNvSpPr/>
          <p:nvPr/>
        </p:nvSpPr>
        <p:spPr>
          <a:xfrm>
            <a:off x="947647" y="1884806"/>
            <a:ext cx="618767" cy="618767"/>
          </a:xfrm>
          <a:prstGeom prst="ellipse">
            <a:avLst/>
          </a:prstGeom>
          <a:blipFill>
            <a:blip r:embed="rId5">
              <a:extLst>
                <a:ext uri="{28A0092B-C50C-407E-A947-70E740481C1C}">
                  <a14:useLocalDpi xmlns:a14="http://schemas.microsoft.com/office/drawing/2010/main" val="0"/>
                </a:ext>
              </a:extLst>
            </a:blip>
            <a:srcRect/>
            <a:stretch>
              <a:fillRect t="-1000" b="-1000"/>
            </a:stretch>
          </a:blipFill>
        </p:spPr>
        <p:style>
          <a:lnRef idx="2">
            <a:schemeClr val="dk2">
              <a:shade val="80000"/>
              <a:hueOff val="0"/>
              <a:satOff val="0"/>
              <a:lumOff val="0"/>
              <a:alphaOff val="0"/>
            </a:schemeClr>
          </a:lnRef>
          <a:fillRef idx="1">
            <a:scrgbClr r="0" g="0" b="0"/>
          </a:fillRef>
          <a:effectRef idx="0">
            <a:schemeClr val="dk2">
              <a:tint val="40000"/>
              <a:hueOff val="0"/>
              <a:satOff val="0"/>
              <a:lumOff val="0"/>
              <a:alphaOff val="0"/>
            </a:schemeClr>
          </a:effectRef>
          <a:fontRef idx="minor">
            <a:schemeClr val="lt1">
              <a:hueOff val="0"/>
              <a:satOff val="0"/>
              <a:lumOff val="0"/>
              <a:alphaOff val="0"/>
            </a:schemeClr>
          </a:fontRef>
        </p:style>
        <p:txBody>
          <a:bodyPr/>
          <a:lstStyle/>
          <a:p>
            <a:endParaRPr lang="en-GB"/>
          </a:p>
        </p:txBody>
      </p:sp>
      <p:grpSp>
        <p:nvGrpSpPr>
          <p:cNvPr id="51" name="Group 50">
            <a:extLst>
              <a:ext uri="{FF2B5EF4-FFF2-40B4-BE49-F238E27FC236}">
                <a16:creationId xmlns:a16="http://schemas.microsoft.com/office/drawing/2014/main" id="{DC30C7A3-EAC4-B1FB-FC9E-3035F40C8E11}"/>
              </a:ext>
            </a:extLst>
          </p:cNvPr>
          <p:cNvGrpSpPr/>
          <p:nvPr/>
        </p:nvGrpSpPr>
        <p:grpSpPr>
          <a:xfrm>
            <a:off x="1257030" y="2688280"/>
            <a:ext cx="4307462" cy="618767"/>
            <a:chOff x="1239654" y="804350"/>
            <a:chExt cx="4307462" cy="618767"/>
          </a:xfrm>
        </p:grpSpPr>
        <p:sp>
          <p:nvSpPr>
            <p:cNvPr id="68" name="Arrow: Pentagon 67">
              <a:extLst>
                <a:ext uri="{FF2B5EF4-FFF2-40B4-BE49-F238E27FC236}">
                  <a16:creationId xmlns:a16="http://schemas.microsoft.com/office/drawing/2014/main" id="{49070630-BF5F-AE5D-98B6-56F4BD8656FE}"/>
                </a:ext>
              </a:extLst>
            </p:cNvPr>
            <p:cNvSpPr/>
            <p:nvPr/>
          </p:nvSpPr>
          <p:spPr>
            <a:xfrm rot="10800000">
              <a:off x="1239654" y="804350"/>
              <a:ext cx="4307462" cy="618767"/>
            </a:xfrm>
            <a:prstGeom prst="homePlate">
              <a:avLst/>
            </a:pr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69" name="Arrow: Pentagon 7">
              <a:extLst>
                <a:ext uri="{FF2B5EF4-FFF2-40B4-BE49-F238E27FC236}">
                  <a16:creationId xmlns:a16="http://schemas.microsoft.com/office/drawing/2014/main" id="{82040B08-F296-BE16-30CB-2EC930D507BE}"/>
                </a:ext>
              </a:extLst>
            </p:cNvPr>
            <p:cNvSpPr txBox="1"/>
            <p:nvPr/>
          </p:nvSpPr>
          <p:spPr>
            <a:xfrm rot="21600000">
              <a:off x="1394346" y="804350"/>
              <a:ext cx="4152770" cy="618767"/>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72859" tIns="57150" rIns="106680" bIns="57150" numCol="1" spcCol="1270" anchor="ctr" anchorCtr="0">
              <a:noAutofit/>
            </a:bodyPr>
            <a:lstStyle/>
            <a:p>
              <a:pPr algn="ctr" defTabSz="666783">
                <a:lnSpc>
                  <a:spcPct val="90000"/>
                </a:lnSpc>
                <a:spcBef>
                  <a:spcPct val="0"/>
                </a:spcBef>
                <a:spcAft>
                  <a:spcPct val="35000"/>
                </a:spcAft>
              </a:pPr>
              <a:r>
                <a:rPr lang="en-CH" sz="1500" dirty="0">
                  <a:solidFill>
                    <a:srgbClr val="002060"/>
                  </a:solidFill>
                </a:rPr>
                <a:t>A WIS2 </a:t>
              </a:r>
              <a:r>
                <a:rPr lang="en-GB" sz="1500" dirty="0">
                  <a:solidFill>
                    <a:srgbClr val="002060"/>
                  </a:solidFill>
                </a:rPr>
                <a:t>N</a:t>
              </a:r>
              <a:r>
                <a:rPr lang="en-CH" sz="1500" dirty="0">
                  <a:solidFill>
                    <a:srgbClr val="002060"/>
                  </a:solidFill>
                </a:rPr>
                <a:t>ode replaces the GTS Message Switching System</a:t>
              </a:r>
            </a:p>
          </p:txBody>
        </p:sp>
      </p:grpSp>
      <p:sp>
        <p:nvSpPr>
          <p:cNvPr id="52" name="Oval 51">
            <a:extLst>
              <a:ext uri="{FF2B5EF4-FFF2-40B4-BE49-F238E27FC236}">
                <a16:creationId xmlns:a16="http://schemas.microsoft.com/office/drawing/2014/main" id="{FD28F73B-736D-4A94-77D1-37ECF31EA89F}"/>
              </a:ext>
            </a:extLst>
          </p:cNvPr>
          <p:cNvSpPr/>
          <p:nvPr/>
        </p:nvSpPr>
        <p:spPr>
          <a:xfrm>
            <a:off x="947647" y="2688280"/>
            <a:ext cx="618767" cy="618767"/>
          </a:xfrm>
          <a:prstGeom prst="ellipse">
            <a:avLst/>
          </a:prstGeom>
          <a:blipFill rotWithShape="1">
            <a:blip r:embed="rId5">
              <a:extLst>
                <a:ext uri="{28A0092B-C50C-407E-A947-70E740481C1C}">
                  <a14:useLocalDpi xmlns:a14="http://schemas.microsoft.com/office/drawing/2010/main" val="0"/>
                </a:ext>
              </a:extLst>
            </a:blip>
            <a:srcRect/>
            <a:stretch>
              <a:fillRect t="-1000" b="-1000"/>
            </a:stretch>
          </a:blipFill>
        </p:spPr>
        <p:style>
          <a:lnRef idx="2">
            <a:schemeClr val="dk2">
              <a:shade val="80000"/>
              <a:hueOff val="0"/>
              <a:satOff val="0"/>
              <a:lumOff val="0"/>
              <a:alphaOff val="0"/>
            </a:schemeClr>
          </a:lnRef>
          <a:fillRef idx="1">
            <a:scrgbClr r="0" g="0" b="0"/>
          </a:fillRef>
          <a:effectRef idx="0">
            <a:schemeClr val="dk2">
              <a:tint val="40000"/>
              <a:hueOff val="0"/>
              <a:satOff val="0"/>
              <a:lumOff val="0"/>
              <a:alphaOff val="0"/>
            </a:schemeClr>
          </a:effectRef>
          <a:fontRef idx="minor">
            <a:schemeClr val="lt1">
              <a:hueOff val="0"/>
              <a:satOff val="0"/>
              <a:lumOff val="0"/>
              <a:alphaOff val="0"/>
            </a:schemeClr>
          </a:fontRef>
        </p:style>
        <p:txBody>
          <a:bodyPr/>
          <a:lstStyle/>
          <a:p>
            <a:endParaRPr lang="en-GB"/>
          </a:p>
        </p:txBody>
      </p:sp>
      <p:grpSp>
        <p:nvGrpSpPr>
          <p:cNvPr id="53" name="Group 52">
            <a:extLst>
              <a:ext uri="{FF2B5EF4-FFF2-40B4-BE49-F238E27FC236}">
                <a16:creationId xmlns:a16="http://schemas.microsoft.com/office/drawing/2014/main" id="{BA479A0E-FC4A-3A9D-0C69-1725218F3C4E}"/>
              </a:ext>
            </a:extLst>
          </p:cNvPr>
          <p:cNvGrpSpPr/>
          <p:nvPr/>
        </p:nvGrpSpPr>
        <p:grpSpPr>
          <a:xfrm>
            <a:off x="1257030" y="3491754"/>
            <a:ext cx="4307462" cy="618767"/>
            <a:chOff x="1239654" y="1607824"/>
            <a:chExt cx="4307462" cy="618767"/>
          </a:xfrm>
        </p:grpSpPr>
        <p:sp>
          <p:nvSpPr>
            <p:cNvPr id="66" name="Arrow: Pentagon 65">
              <a:extLst>
                <a:ext uri="{FF2B5EF4-FFF2-40B4-BE49-F238E27FC236}">
                  <a16:creationId xmlns:a16="http://schemas.microsoft.com/office/drawing/2014/main" id="{CCD5E967-4F17-32AA-DB9B-63F3DF3DB7F1}"/>
                </a:ext>
              </a:extLst>
            </p:cNvPr>
            <p:cNvSpPr/>
            <p:nvPr/>
          </p:nvSpPr>
          <p:spPr>
            <a:xfrm rot="10800000">
              <a:off x="1239654" y="1607824"/>
              <a:ext cx="4307462" cy="618767"/>
            </a:xfrm>
            <a:prstGeom prst="homePlate">
              <a:avLst/>
            </a:pr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67" name="Arrow: Pentagon 10">
              <a:extLst>
                <a:ext uri="{FF2B5EF4-FFF2-40B4-BE49-F238E27FC236}">
                  <a16:creationId xmlns:a16="http://schemas.microsoft.com/office/drawing/2014/main" id="{7FE07956-28C6-D569-6A65-1C667F88912E}"/>
                </a:ext>
              </a:extLst>
            </p:cNvPr>
            <p:cNvSpPr txBox="1"/>
            <p:nvPr/>
          </p:nvSpPr>
          <p:spPr>
            <a:xfrm rot="21600000">
              <a:off x="1394346" y="1607824"/>
              <a:ext cx="4152770" cy="618767"/>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72859" tIns="57150" rIns="106680" bIns="57150" numCol="1" spcCol="1270" anchor="ctr" anchorCtr="0">
              <a:noAutofit/>
            </a:bodyPr>
            <a:lstStyle/>
            <a:p>
              <a:pPr algn="ctr" defTabSz="666783">
                <a:lnSpc>
                  <a:spcPct val="90000"/>
                </a:lnSpc>
                <a:spcBef>
                  <a:spcPct val="0"/>
                </a:spcBef>
                <a:spcAft>
                  <a:spcPct val="35000"/>
                </a:spcAft>
              </a:pPr>
              <a:r>
                <a:rPr lang="en-GB" sz="1500" dirty="0">
                  <a:solidFill>
                    <a:srgbClr val="002060"/>
                  </a:solidFill>
                </a:rPr>
                <a:t>Data and metadata are shared using a WIS2 Node</a:t>
              </a:r>
              <a:endParaRPr lang="en-CH" sz="1500" dirty="0">
                <a:solidFill>
                  <a:srgbClr val="002060"/>
                </a:solidFill>
              </a:endParaRPr>
            </a:p>
          </p:txBody>
        </p:sp>
      </p:grpSp>
      <p:sp>
        <p:nvSpPr>
          <p:cNvPr id="54" name="Oval 53">
            <a:extLst>
              <a:ext uri="{FF2B5EF4-FFF2-40B4-BE49-F238E27FC236}">
                <a16:creationId xmlns:a16="http://schemas.microsoft.com/office/drawing/2014/main" id="{D87A3032-8F5F-9230-F6AF-19938EB63C7F}"/>
              </a:ext>
            </a:extLst>
          </p:cNvPr>
          <p:cNvSpPr/>
          <p:nvPr/>
        </p:nvSpPr>
        <p:spPr>
          <a:xfrm>
            <a:off x="947647" y="3491754"/>
            <a:ext cx="618767" cy="618767"/>
          </a:xfrm>
          <a:prstGeom prst="ellipse">
            <a:avLst/>
          </a:prstGeom>
          <a:blipFill rotWithShape="1">
            <a:blip r:embed="rId5">
              <a:extLst>
                <a:ext uri="{28A0092B-C50C-407E-A947-70E740481C1C}">
                  <a14:useLocalDpi xmlns:a14="http://schemas.microsoft.com/office/drawing/2010/main" val="0"/>
                </a:ext>
              </a:extLst>
            </a:blip>
            <a:srcRect/>
            <a:stretch>
              <a:fillRect t="-1000" b="-1000"/>
            </a:stretch>
          </a:blipFill>
        </p:spPr>
        <p:style>
          <a:lnRef idx="2">
            <a:schemeClr val="dk2">
              <a:shade val="80000"/>
              <a:hueOff val="0"/>
              <a:satOff val="0"/>
              <a:lumOff val="0"/>
              <a:alphaOff val="0"/>
            </a:schemeClr>
          </a:lnRef>
          <a:fillRef idx="1">
            <a:scrgbClr r="0" g="0" b="0"/>
          </a:fillRef>
          <a:effectRef idx="0">
            <a:schemeClr val="dk2">
              <a:tint val="40000"/>
              <a:hueOff val="0"/>
              <a:satOff val="0"/>
              <a:lumOff val="0"/>
              <a:alphaOff val="0"/>
            </a:schemeClr>
          </a:effectRef>
          <a:fontRef idx="minor">
            <a:schemeClr val="lt1">
              <a:hueOff val="0"/>
              <a:satOff val="0"/>
              <a:lumOff val="0"/>
              <a:alphaOff val="0"/>
            </a:schemeClr>
          </a:fontRef>
        </p:style>
        <p:txBody>
          <a:bodyPr/>
          <a:lstStyle/>
          <a:p>
            <a:endParaRPr lang="en-GB"/>
          </a:p>
        </p:txBody>
      </p:sp>
      <p:grpSp>
        <p:nvGrpSpPr>
          <p:cNvPr id="55" name="Group 54">
            <a:extLst>
              <a:ext uri="{FF2B5EF4-FFF2-40B4-BE49-F238E27FC236}">
                <a16:creationId xmlns:a16="http://schemas.microsoft.com/office/drawing/2014/main" id="{5B4DD152-9925-0FCF-2D3C-77B9AD56297C}"/>
              </a:ext>
            </a:extLst>
          </p:cNvPr>
          <p:cNvGrpSpPr/>
          <p:nvPr/>
        </p:nvGrpSpPr>
        <p:grpSpPr>
          <a:xfrm>
            <a:off x="1257030" y="4295229"/>
            <a:ext cx="4307462" cy="618767"/>
            <a:chOff x="1239654" y="2411299"/>
            <a:chExt cx="4307462" cy="618767"/>
          </a:xfrm>
        </p:grpSpPr>
        <p:sp>
          <p:nvSpPr>
            <p:cNvPr id="63" name="Arrow: Pentagon 62">
              <a:extLst>
                <a:ext uri="{FF2B5EF4-FFF2-40B4-BE49-F238E27FC236}">
                  <a16:creationId xmlns:a16="http://schemas.microsoft.com/office/drawing/2014/main" id="{5E1FE49F-0FC0-CA55-3059-B5E7A8B8E07B}"/>
                </a:ext>
              </a:extLst>
            </p:cNvPr>
            <p:cNvSpPr/>
            <p:nvPr/>
          </p:nvSpPr>
          <p:spPr>
            <a:xfrm rot="10800000">
              <a:off x="1239654" y="2411299"/>
              <a:ext cx="4307462" cy="618767"/>
            </a:xfrm>
            <a:prstGeom prst="homePlate">
              <a:avLst/>
            </a:pr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65" name="Arrow: Pentagon 13">
              <a:extLst>
                <a:ext uri="{FF2B5EF4-FFF2-40B4-BE49-F238E27FC236}">
                  <a16:creationId xmlns:a16="http://schemas.microsoft.com/office/drawing/2014/main" id="{74C5BEAF-F0C3-610D-2905-ECF5C1AD4666}"/>
                </a:ext>
              </a:extLst>
            </p:cNvPr>
            <p:cNvSpPr txBox="1"/>
            <p:nvPr/>
          </p:nvSpPr>
          <p:spPr>
            <a:xfrm rot="21600000">
              <a:off x="1394346" y="2411299"/>
              <a:ext cx="4152770" cy="618767"/>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72859" tIns="57150" rIns="106680" bIns="57150" numCol="1" spcCol="1270" anchor="ctr" anchorCtr="0">
              <a:noAutofit/>
            </a:bodyPr>
            <a:lstStyle/>
            <a:p>
              <a:pPr algn="ctr" defTabSz="666783">
                <a:lnSpc>
                  <a:spcPct val="90000"/>
                </a:lnSpc>
                <a:spcBef>
                  <a:spcPct val="0"/>
                </a:spcBef>
                <a:spcAft>
                  <a:spcPct val="35000"/>
                </a:spcAft>
              </a:pPr>
              <a:r>
                <a:rPr lang="en-GB" sz="1500" dirty="0">
                  <a:solidFill>
                    <a:srgbClr val="002060"/>
                  </a:solidFill>
                </a:rPr>
                <a:t>A WIS2 Node shares data via an HTTPS service and sends notifications to MQTT subscribers</a:t>
              </a:r>
              <a:endParaRPr lang="en-CH" sz="1500" dirty="0">
                <a:solidFill>
                  <a:srgbClr val="002060"/>
                </a:solidFill>
              </a:endParaRPr>
            </a:p>
          </p:txBody>
        </p:sp>
      </p:grpSp>
      <p:sp>
        <p:nvSpPr>
          <p:cNvPr id="56" name="Oval 55">
            <a:extLst>
              <a:ext uri="{FF2B5EF4-FFF2-40B4-BE49-F238E27FC236}">
                <a16:creationId xmlns:a16="http://schemas.microsoft.com/office/drawing/2014/main" id="{8E66EE7E-29A6-15D1-8AB1-0C030EB7BAA6}"/>
              </a:ext>
            </a:extLst>
          </p:cNvPr>
          <p:cNvSpPr/>
          <p:nvPr/>
        </p:nvSpPr>
        <p:spPr>
          <a:xfrm>
            <a:off x="947647" y="4295229"/>
            <a:ext cx="618767" cy="618767"/>
          </a:xfrm>
          <a:prstGeom prst="ellipse">
            <a:avLst/>
          </a:prstGeom>
          <a:blipFill rotWithShape="1">
            <a:blip r:embed="rId5">
              <a:extLst>
                <a:ext uri="{28A0092B-C50C-407E-A947-70E740481C1C}">
                  <a14:useLocalDpi xmlns:a14="http://schemas.microsoft.com/office/drawing/2010/main" val="0"/>
                </a:ext>
              </a:extLst>
            </a:blip>
            <a:srcRect/>
            <a:stretch>
              <a:fillRect t="-1000" b="-1000"/>
            </a:stretch>
          </a:blipFill>
        </p:spPr>
        <p:style>
          <a:lnRef idx="2">
            <a:schemeClr val="dk2">
              <a:shade val="80000"/>
              <a:hueOff val="0"/>
              <a:satOff val="0"/>
              <a:lumOff val="0"/>
              <a:alphaOff val="0"/>
            </a:schemeClr>
          </a:lnRef>
          <a:fillRef idx="1">
            <a:scrgbClr r="0" g="0" b="0"/>
          </a:fillRef>
          <a:effectRef idx="0">
            <a:schemeClr val="dk2">
              <a:tint val="40000"/>
              <a:hueOff val="0"/>
              <a:satOff val="0"/>
              <a:lumOff val="0"/>
              <a:alphaOff val="0"/>
            </a:schemeClr>
          </a:effectRef>
          <a:fontRef idx="minor">
            <a:schemeClr val="lt1">
              <a:hueOff val="0"/>
              <a:satOff val="0"/>
              <a:lumOff val="0"/>
              <a:alphaOff val="0"/>
            </a:schemeClr>
          </a:fontRef>
        </p:style>
        <p:txBody>
          <a:bodyPr/>
          <a:lstStyle/>
          <a:p>
            <a:endParaRPr lang="en-GB"/>
          </a:p>
        </p:txBody>
      </p:sp>
    </p:spTree>
    <p:extLst>
      <p:ext uri="{BB962C8B-B14F-4D97-AF65-F5344CB8AC3E}">
        <p14:creationId xmlns:p14="http://schemas.microsoft.com/office/powerpoint/2010/main" val="259851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8DAD8-3158-BC6D-3BAB-BDEB45188FD8}"/>
            </a:ext>
          </a:extLst>
        </p:cNvPr>
        <p:cNvGrpSpPr/>
        <p:nvPr/>
      </p:nvGrpSpPr>
      <p:grpSpPr>
        <a:xfrm>
          <a:off x="0" y="0"/>
          <a:ext cx="0" cy="0"/>
          <a:chOff x="0" y="0"/>
          <a:chExt cx="0" cy="0"/>
        </a:xfrm>
      </p:grpSpPr>
      <p:pic>
        <p:nvPicPr>
          <p:cNvPr id="18" name="Picture 17" descr="Icon&#10;&#10;Description automatically generated">
            <a:extLst>
              <a:ext uri="{FF2B5EF4-FFF2-40B4-BE49-F238E27FC236}">
                <a16:creationId xmlns:a16="http://schemas.microsoft.com/office/drawing/2014/main" id="{1E0AD68D-DE9E-89F8-91FB-DB3200B85FAC}"/>
              </a:ext>
            </a:extLst>
          </p:cNvPr>
          <p:cNvPicPr>
            <a:picLocks noChangeAspect="1"/>
          </p:cNvPicPr>
          <p:nvPr/>
        </p:nvPicPr>
        <p:blipFill>
          <a:blip r:embed="rId3"/>
          <a:stretch>
            <a:fillRect/>
          </a:stretch>
        </p:blipFill>
        <p:spPr>
          <a:xfrm>
            <a:off x="10572307" y="630929"/>
            <a:ext cx="904768" cy="904768"/>
          </a:xfrm>
          <a:prstGeom prst="rect">
            <a:avLst/>
          </a:prstGeom>
        </p:spPr>
      </p:pic>
      <p:sp>
        <p:nvSpPr>
          <p:cNvPr id="6" name="Rectangle 5">
            <a:extLst>
              <a:ext uri="{FF2B5EF4-FFF2-40B4-BE49-F238E27FC236}">
                <a16:creationId xmlns:a16="http://schemas.microsoft.com/office/drawing/2014/main" id="{B014157B-A45A-CE2B-6F32-E6101FEF5994}"/>
              </a:ext>
            </a:extLst>
          </p:cNvPr>
          <p:cNvSpPr/>
          <p:nvPr/>
        </p:nvSpPr>
        <p:spPr>
          <a:xfrm>
            <a:off x="-53788" y="-13415"/>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914446">
              <a:defRPr/>
            </a:pPr>
            <a:r>
              <a:rPr lang="en-US" sz="3200" b="1" dirty="0">
                <a:solidFill>
                  <a:prstClr val="white"/>
                </a:solidFill>
                <a:latin typeface="Calibri"/>
              </a:rPr>
              <a:t>WIS2 Transition</a:t>
            </a:r>
            <a:endParaRPr lang="en-CH" sz="3200" b="1" dirty="0">
              <a:solidFill>
                <a:prstClr val="white"/>
              </a:solidFill>
              <a:latin typeface="Calibri"/>
            </a:endParaRPr>
          </a:p>
        </p:txBody>
      </p:sp>
      <p:pic>
        <p:nvPicPr>
          <p:cNvPr id="2050" name="Picture 2" descr="WIS2 implementation timeline">
            <a:extLst>
              <a:ext uri="{FF2B5EF4-FFF2-40B4-BE49-F238E27FC236}">
                <a16:creationId xmlns:a16="http://schemas.microsoft.com/office/drawing/2014/main" id="{AC50BB73-BFE5-250E-388B-55E5700F7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6100"/>
            <a:ext cx="12192000" cy="5764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808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7F66-ACBE-536C-E4B6-F01C7AD34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92A8A-6294-6487-649D-DC0A49F3D785}"/>
              </a:ext>
            </a:extLst>
          </p:cNvPr>
          <p:cNvSpPr>
            <a:spLocks noGrp="1"/>
          </p:cNvSpPr>
          <p:nvPr>
            <p:ph type="title"/>
          </p:nvPr>
        </p:nvSpPr>
        <p:spPr/>
        <p:txBody>
          <a:bodyPr/>
          <a:lstStyle/>
          <a:p>
            <a:r>
              <a:rPr lang="en-CA" dirty="0"/>
              <a:t>WIS 2.0 Implementation</a:t>
            </a:r>
          </a:p>
        </p:txBody>
      </p:sp>
      <p:sp>
        <p:nvSpPr>
          <p:cNvPr id="3" name="Content Placeholder 2">
            <a:extLst>
              <a:ext uri="{FF2B5EF4-FFF2-40B4-BE49-F238E27FC236}">
                <a16:creationId xmlns:a16="http://schemas.microsoft.com/office/drawing/2014/main" id="{713E6A37-80A5-C4BF-97C0-13859EBCC24F}"/>
              </a:ext>
            </a:extLst>
          </p:cNvPr>
          <p:cNvSpPr>
            <a:spLocks noGrp="1"/>
          </p:cNvSpPr>
          <p:nvPr>
            <p:ph idx="1"/>
          </p:nvPr>
        </p:nvSpPr>
        <p:spPr/>
        <p:txBody>
          <a:bodyPr>
            <a:normAutofit/>
          </a:bodyPr>
          <a:lstStyle/>
          <a:p>
            <a:r>
              <a:rPr lang="en-CA" dirty="0"/>
              <a:t>WOUDC datasets will be discoverable on the WIS2 Catalogue (search)</a:t>
            </a:r>
          </a:p>
          <a:p>
            <a:r>
              <a:rPr lang="en-CA" dirty="0"/>
              <a:t>WOUDC data will be published and made available to WIS2 in real-time as part of the data processing/publication process</a:t>
            </a:r>
          </a:p>
          <a:p>
            <a:r>
              <a:rPr lang="en-CA" dirty="0"/>
              <a:t>Topic definitions for atmospheric composition data publication (ET-ACDM)</a:t>
            </a:r>
          </a:p>
          <a:p>
            <a:pPr lvl="1"/>
            <a:r>
              <a:rPr lang="en-CA" dirty="0">
                <a:hlinkClick r:id="rId2"/>
              </a:rPr>
              <a:t>github.com/wmo-im/wis2-topic-hierarchy/issues/233</a:t>
            </a:r>
            <a:endParaRPr lang="en-CA" dirty="0"/>
          </a:p>
          <a:p>
            <a:endParaRPr lang="en-CA" dirty="0"/>
          </a:p>
        </p:txBody>
      </p:sp>
      <p:sp>
        <p:nvSpPr>
          <p:cNvPr id="4" name="Slide Number Placeholder 3">
            <a:extLst>
              <a:ext uri="{FF2B5EF4-FFF2-40B4-BE49-F238E27FC236}">
                <a16:creationId xmlns:a16="http://schemas.microsoft.com/office/drawing/2014/main" id="{DDF0113A-8973-E1EA-44DD-6EA96B3FF662}"/>
              </a:ext>
            </a:extLst>
          </p:cNvPr>
          <p:cNvSpPr>
            <a:spLocks noGrp="1"/>
          </p:cNvSpPr>
          <p:nvPr>
            <p:ph type="sldNum" sz="quarter" idx="12"/>
          </p:nvPr>
        </p:nvSpPr>
        <p:spPr/>
        <p:txBody>
          <a:bodyPr/>
          <a:lstStyle/>
          <a:p>
            <a:fld id="{5CE84AB2-A68C-446D-B258-F807154688F9}" type="slidenum">
              <a:rPr lang="en-US" smtClean="0"/>
              <a:t>18</a:t>
            </a:fld>
            <a:endParaRPr lang="en-US"/>
          </a:p>
        </p:txBody>
      </p:sp>
    </p:spTree>
    <p:extLst>
      <p:ext uri="{BB962C8B-B14F-4D97-AF65-F5344CB8AC3E}">
        <p14:creationId xmlns:p14="http://schemas.microsoft.com/office/powerpoint/2010/main" val="3984523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Slide Number Placeholder 3">
            <a:extLst>
              <a:ext uri="{FF2B5EF4-FFF2-40B4-BE49-F238E27FC236}">
                <a16:creationId xmlns:a16="http://schemas.microsoft.com/office/drawing/2014/main" id="{D039BBEF-32F2-9982-7D33-7FDCB88384F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CE84AB2-A68C-446D-B258-F807154688F9}" type="slidenum">
              <a:rPr lang="en-US">
                <a:solidFill>
                  <a:srgbClr val="FFFFFF"/>
                </a:solidFill>
              </a:rPr>
              <a:pPr>
                <a:spcAft>
                  <a:spcPts val="600"/>
                </a:spcAft>
              </a:pPr>
              <a:t>19</a:t>
            </a:fld>
            <a:endParaRPr lang="en-US">
              <a:solidFill>
                <a:srgbClr val="FFFFFF"/>
              </a:solidFill>
            </a:endParaRPr>
          </a:p>
        </p:txBody>
      </p:sp>
      <p:pic>
        <p:nvPicPr>
          <p:cNvPr id="1030" name="Picture 6">
            <a:extLst>
              <a:ext uri="{FF2B5EF4-FFF2-40B4-BE49-F238E27FC236}">
                <a16:creationId xmlns:a16="http://schemas.microsoft.com/office/drawing/2014/main" id="{2353B8B9-BC6E-3062-7F1F-C507BEDCD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488" y="0"/>
            <a:ext cx="99790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594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WMO WOUDC Update</a:t>
            </a:r>
          </a:p>
        </p:txBody>
      </p:sp>
      <p:sp>
        <p:nvSpPr>
          <p:cNvPr id="3" name="Content Placeholder 2"/>
          <p:cNvSpPr>
            <a:spLocks noGrp="1"/>
          </p:cNvSpPr>
          <p:nvPr>
            <p:ph idx="1"/>
          </p:nvPr>
        </p:nvSpPr>
        <p:spPr/>
        <p:txBody>
          <a:bodyPr>
            <a:noAutofit/>
          </a:bodyPr>
          <a:lstStyle/>
          <a:p>
            <a:pPr marL="0" indent="0" algn="ctr">
              <a:buNone/>
            </a:pPr>
            <a:r>
              <a:rPr lang="en-US" sz="4000" dirty="0"/>
              <a:t>Thank you!</a:t>
            </a:r>
          </a:p>
          <a:p>
            <a:endParaRPr lang="en-US" dirty="0"/>
          </a:p>
          <a:p>
            <a:r>
              <a:rPr lang="en-US" dirty="0"/>
              <a:t>Website: </a:t>
            </a:r>
            <a:r>
              <a:rPr lang="en-US" dirty="0">
                <a:hlinkClick r:id="rId2"/>
              </a:rPr>
              <a:t>woudc.org</a:t>
            </a:r>
            <a:endParaRPr lang="en-US" dirty="0"/>
          </a:p>
          <a:p>
            <a:r>
              <a:rPr lang="en-US" dirty="0"/>
              <a:t>Guidebook: </a:t>
            </a:r>
            <a:r>
              <a:rPr lang="en-US" dirty="0">
                <a:hlinkClick r:id="rId3"/>
              </a:rPr>
              <a:t>guide.woudc.org</a:t>
            </a:r>
            <a:endParaRPr lang="en-US" dirty="0"/>
          </a:p>
          <a:p>
            <a:r>
              <a:rPr lang="en-US" dirty="0"/>
              <a:t>GitHub/Code: </a:t>
            </a:r>
            <a:r>
              <a:rPr lang="en-US" dirty="0">
                <a:hlinkClick r:id="rId4"/>
              </a:rPr>
              <a:t>github.com/woudc</a:t>
            </a:r>
            <a:endParaRPr lang="en-US" dirty="0"/>
          </a:p>
          <a:p>
            <a:r>
              <a:rPr lang="en-US" dirty="0"/>
              <a:t>Wiki: </a:t>
            </a:r>
            <a:r>
              <a:rPr lang="en-US" dirty="0">
                <a:hlinkClick r:id="rId5"/>
              </a:rPr>
              <a:t>github.com/woudc/woudc/wiki</a:t>
            </a:r>
            <a:endParaRPr lang="en-US" dirty="0"/>
          </a:p>
          <a:p>
            <a:pPr marL="0" indent="0" algn="ctr">
              <a:buNone/>
            </a:pPr>
            <a:endParaRPr lang="en-US" sz="4000" dirty="0"/>
          </a:p>
        </p:txBody>
      </p:sp>
      <p:sp>
        <p:nvSpPr>
          <p:cNvPr id="4" name="Slide Number Placeholder 3"/>
          <p:cNvSpPr>
            <a:spLocks noGrp="1"/>
          </p:cNvSpPr>
          <p:nvPr>
            <p:ph type="sldNum" sz="quarter" idx="12"/>
          </p:nvPr>
        </p:nvSpPr>
        <p:spPr/>
        <p:txBody>
          <a:bodyPr/>
          <a:lstStyle/>
          <a:p>
            <a:fld id="{5CE84AB2-A68C-446D-B258-F807154688F9}" type="slidenum">
              <a:rPr lang="en-US" smtClean="0"/>
              <a:t>20</a:t>
            </a:fld>
            <a:endParaRPr lang="en-US" dirty="0"/>
          </a:p>
        </p:txBody>
      </p:sp>
    </p:spTree>
    <p:extLst>
      <p:ext uri="{BB962C8B-B14F-4D97-AF65-F5344CB8AC3E}">
        <p14:creationId xmlns:p14="http://schemas.microsoft.com/office/powerpoint/2010/main" val="3215492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External Data Centre </a:t>
            </a:r>
            <a:r>
              <a:rPr lang="en-CA" dirty="0" err="1"/>
              <a:t>LInkages</a:t>
            </a:r>
            <a:endParaRPr lang="en-CA" dirty="0"/>
          </a:p>
        </p:txBody>
      </p:sp>
      <p:sp>
        <p:nvSpPr>
          <p:cNvPr id="3" name="Content Placeholder 2"/>
          <p:cNvSpPr>
            <a:spLocks noGrp="1"/>
          </p:cNvSpPr>
          <p:nvPr>
            <p:ph idx="1"/>
          </p:nvPr>
        </p:nvSpPr>
        <p:spPr/>
        <p:txBody>
          <a:bodyPr>
            <a:normAutofit lnSpcReduction="10000"/>
          </a:bodyPr>
          <a:lstStyle/>
          <a:p>
            <a:r>
              <a:rPr lang="en-CA" dirty="0"/>
              <a:t>European UV database: available via </a:t>
            </a:r>
            <a:r>
              <a:rPr lang="en-CA" dirty="0">
                <a:hlinkClick r:id="rId3"/>
              </a:rPr>
              <a:t>woudc.org/en/resources/links</a:t>
            </a:r>
            <a:endParaRPr lang="en-CA" dirty="0"/>
          </a:p>
          <a:p>
            <a:r>
              <a:rPr lang="en-CA" dirty="0"/>
              <a:t>EUBREWNET</a:t>
            </a:r>
          </a:p>
          <a:p>
            <a:pPr lvl="1"/>
            <a:r>
              <a:rPr lang="en-CA" dirty="0"/>
              <a:t>File indexing/discovery</a:t>
            </a:r>
          </a:p>
          <a:p>
            <a:r>
              <a:rPr lang="en-CA" dirty="0"/>
              <a:t>NDACC</a:t>
            </a:r>
          </a:p>
          <a:p>
            <a:pPr lvl="1"/>
            <a:r>
              <a:rPr lang="en-CA" dirty="0"/>
              <a:t>File indexing/discovery</a:t>
            </a:r>
          </a:p>
          <a:p>
            <a:r>
              <a:rPr lang="en-CA" dirty="0"/>
              <a:t>SHADOZ</a:t>
            </a:r>
          </a:p>
          <a:p>
            <a:pPr lvl="1"/>
            <a:r>
              <a:rPr lang="en-CA" dirty="0"/>
              <a:t>Full data conversion/ingest</a:t>
            </a:r>
          </a:p>
          <a:p>
            <a:pPr lvl="2"/>
            <a:r>
              <a:rPr lang="en-CA" dirty="0"/>
              <a:t>Action for follow-up</a:t>
            </a:r>
          </a:p>
        </p:txBody>
      </p:sp>
      <p:sp>
        <p:nvSpPr>
          <p:cNvPr id="4" name="Slide Number Placeholder 3"/>
          <p:cNvSpPr>
            <a:spLocks noGrp="1"/>
          </p:cNvSpPr>
          <p:nvPr>
            <p:ph type="sldNum" sz="quarter" idx="10"/>
          </p:nvPr>
        </p:nvSpPr>
        <p:spPr/>
        <p:txBody>
          <a:bodyPr/>
          <a:lstStyle/>
          <a:p>
            <a:fld id="{78075564-AF6E-40FC-905A-F6C5E8D29614}" type="slidenum">
              <a:rPr lang="en-US" altLang="en-US" smtClean="0"/>
              <a:pPr/>
              <a:t>21</a:t>
            </a:fld>
            <a:endParaRPr lang="en-US" altLang="en-US" dirty="0"/>
          </a:p>
        </p:txBody>
      </p:sp>
    </p:spTree>
    <p:extLst>
      <p:ext uri="{BB962C8B-B14F-4D97-AF65-F5344CB8AC3E}">
        <p14:creationId xmlns:p14="http://schemas.microsoft.com/office/powerpoint/2010/main" val="94878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 operating procedures</a:t>
            </a:r>
          </a:p>
        </p:txBody>
      </p:sp>
      <p:sp>
        <p:nvSpPr>
          <p:cNvPr id="3" name="Content Placeholder 2"/>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2992009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C935E-A2A7-64E1-4CE2-EEB6414A7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B8B26-F59A-9930-3CA1-150A81B70CC8}"/>
              </a:ext>
            </a:extLst>
          </p:cNvPr>
          <p:cNvSpPr>
            <a:spLocks noGrp="1"/>
          </p:cNvSpPr>
          <p:nvPr>
            <p:ph type="title"/>
          </p:nvPr>
        </p:nvSpPr>
        <p:spPr/>
        <p:txBody>
          <a:bodyPr>
            <a:normAutofit/>
          </a:bodyPr>
          <a:lstStyle/>
          <a:p>
            <a:r>
              <a:rPr lang="en-US" dirty="0"/>
              <a:t>Contributor Contact Validation</a:t>
            </a:r>
          </a:p>
        </p:txBody>
      </p:sp>
      <p:sp>
        <p:nvSpPr>
          <p:cNvPr id="3" name="Content Placeholder 2">
            <a:extLst>
              <a:ext uri="{FF2B5EF4-FFF2-40B4-BE49-F238E27FC236}">
                <a16:creationId xmlns:a16="http://schemas.microsoft.com/office/drawing/2014/main" id="{414D9FDE-01DD-D7B2-F32A-53C742599C8E}"/>
              </a:ext>
            </a:extLst>
          </p:cNvPr>
          <p:cNvSpPr>
            <a:spLocks noGrp="1"/>
          </p:cNvSpPr>
          <p:nvPr>
            <p:ph idx="1"/>
          </p:nvPr>
        </p:nvSpPr>
        <p:spPr/>
        <p:txBody>
          <a:bodyPr>
            <a:normAutofit/>
          </a:bodyPr>
          <a:lstStyle/>
          <a:p>
            <a:r>
              <a:rPr lang="en-US" dirty="0"/>
              <a:t>Annual notice sent to all contributors to validate their contact information</a:t>
            </a:r>
          </a:p>
        </p:txBody>
      </p:sp>
    </p:spTree>
    <p:extLst>
      <p:ext uri="{BB962C8B-B14F-4D97-AF65-F5344CB8AC3E}">
        <p14:creationId xmlns:p14="http://schemas.microsoft.com/office/powerpoint/2010/main" val="2740112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defRPr/>
            </a:pPr>
            <a:r>
              <a:rPr lang="en-CA" dirty="0"/>
              <a:t>[1] Have contributed data within last 10 years </a:t>
            </a:r>
          </a:p>
          <a:p>
            <a:pPr lvl="1">
              <a:defRPr/>
            </a:pPr>
            <a:r>
              <a:rPr lang="en-CA" dirty="0"/>
              <a:t>AND </a:t>
            </a:r>
          </a:p>
          <a:p>
            <a:pPr>
              <a:defRPr/>
            </a:pPr>
            <a:r>
              <a:rPr lang="en-CA" dirty="0"/>
              <a:t>[2] No data received within the last 6 months</a:t>
            </a:r>
          </a:p>
          <a:p>
            <a:pPr>
              <a:defRPr/>
            </a:pPr>
            <a:r>
              <a:rPr lang="en-CA" dirty="0"/>
              <a:t>Reminder notification sent to all contributors who meet both [1] and [2]</a:t>
            </a:r>
          </a:p>
          <a:p>
            <a:pPr>
              <a:defRPr/>
            </a:pPr>
            <a:r>
              <a:rPr lang="en-CA" dirty="0"/>
              <a:t>The process runs monthly</a:t>
            </a:r>
          </a:p>
          <a:p>
            <a:pPr>
              <a:defRPr/>
            </a:pPr>
            <a:r>
              <a:rPr lang="en-CA" dirty="0"/>
              <a:t>Contributor will be notified until they do </a:t>
            </a:r>
            <a:r>
              <a:rPr lang="en-CA" b="1" dirty="0"/>
              <a:t>not</a:t>
            </a:r>
            <a:r>
              <a:rPr lang="en-CA" dirty="0"/>
              <a:t> meet [2]</a:t>
            </a:r>
          </a:p>
          <a:p>
            <a:pPr>
              <a:defRPr/>
            </a:pPr>
            <a:r>
              <a:rPr lang="en-CA" dirty="0"/>
              <a:t>10 years denotes active contributors and stations</a:t>
            </a:r>
          </a:p>
          <a:p>
            <a:pPr>
              <a:defRPr/>
            </a:pPr>
            <a:r>
              <a:rPr lang="en-CA" dirty="0"/>
              <a:t>Process can be configured as required; multiple messages, intervals between messages, sessions, cc list, bcc list, etc.</a:t>
            </a:r>
          </a:p>
          <a:p>
            <a:pPr>
              <a:defRPr/>
            </a:pPr>
            <a:r>
              <a:rPr lang="en-CA" dirty="0"/>
              <a:t>Record of notifications archived</a:t>
            </a:r>
          </a:p>
        </p:txBody>
      </p:sp>
      <p:sp>
        <p:nvSpPr>
          <p:cNvPr id="7171" name="Title 2"/>
          <p:cNvSpPr>
            <a:spLocks noGrp="1"/>
          </p:cNvSpPr>
          <p:nvPr>
            <p:ph type="title"/>
          </p:nvPr>
        </p:nvSpPr>
        <p:spPr/>
        <p:txBody>
          <a:bodyPr>
            <a:normAutofit/>
          </a:bodyPr>
          <a:lstStyle/>
          <a:p>
            <a:r>
              <a:rPr lang="en-CA" dirty="0"/>
              <a:t>Contributor Data Submission Reminders</a:t>
            </a:r>
          </a:p>
        </p:txBody>
      </p:sp>
    </p:spTree>
    <p:extLst>
      <p:ext uri="{BB962C8B-B14F-4D97-AF65-F5344CB8AC3E}">
        <p14:creationId xmlns:p14="http://schemas.microsoft.com/office/powerpoint/2010/main" val="2495155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Submission Notifications</a:t>
            </a:r>
          </a:p>
        </p:txBody>
      </p:sp>
      <p:sp>
        <p:nvSpPr>
          <p:cNvPr id="3" name="Content Placeholder 2"/>
          <p:cNvSpPr>
            <a:spLocks noGrp="1"/>
          </p:cNvSpPr>
          <p:nvPr>
            <p:ph idx="1"/>
          </p:nvPr>
        </p:nvSpPr>
        <p:spPr/>
        <p:txBody>
          <a:bodyPr>
            <a:normAutofit lnSpcReduction="10000"/>
          </a:bodyPr>
          <a:lstStyle/>
          <a:p>
            <a:r>
              <a:rPr lang="en-US" dirty="0"/>
              <a:t>Implemented December 2017</a:t>
            </a:r>
          </a:p>
          <a:p>
            <a:r>
              <a:rPr lang="en-US" dirty="0"/>
              <a:t>Contributors notified via email</a:t>
            </a:r>
          </a:p>
          <a:p>
            <a:pPr lvl="1"/>
            <a:r>
              <a:rPr lang="en-US" dirty="0"/>
              <a:t>Data Submission Confirmation (nightly)</a:t>
            </a:r>
          </a:p>
          <a:p>
            <a:pPr lvl="2"/>
            <a:r>
              <a:rPr lang="en-US" dirty="0"/>
              <a:t>List of submitted files to ftp.woudc.org contributor account</a:t>
            </a:r>
          </a:p>
          <a:p>
            <a:pPr lvl="1"/>
            <a:r>
              <a:rPr lang="en-US" dirty="0"/>
              <a:t>Data Processing report (weekly)</a:t>
            </a:r>
          </a:p>
          <a:p>
            <a:pPr lvl="2"/>
            <a:r>
              <a:rPr lang="en-US" dirty="0"/>
              <a:t>Total files received</a:t>
            </a:r>
          </a:p>
          <a:p>
            <a:pPr lvl="2"/>
            <a:r>
              <a:rPr lang="en-US" dirty="0"/>
              <a:t>Number of passed files</a:t>
            </a:r>
          </a:p>
          <a:p>
            <a:pPr lvl="2"/>
            <a:r>
              <a:rPr lang="en-US" dirty="0"/>
              <a:t>Number of manually repaired files</a:t>
            </a:r>
          </a:p>
          <a:p>
            <a:pPr lvl="2"/>
            <a:r>
              <a:rPr lang="en-US" dirty="0"/>
              <a:t>Number of failed files</a:t>
            </a:r>
          </a:p>
          <a:p>
            <a:pPr lvl="2"/>
            <a:r>
              <a:rPr lang="en-US" dirty="0"/>
              <a:t>Summary of Manual fixes</a:t>
            </a:r>
          </a:p>
        </p:txBody>
      </p:sp>
    </p:spTree>
    <p:extLst>
      <p:ext uri="{BB962C8B-B14F-4D97-AF65-F5344CB8AC3E}">
        <p14:creationId xmlns:p14="http://schemas.microsoft.com/office/powerpoint/2010/main" val="2062195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Metadata Quality Correction</a:t>
            </a:r>
          </a:p>
        </p:txBody>
      </p:sp>
      <p:sp>
        <p:nvSpPr>
          <p:cNvPr id="3" name="Content Placeholder 2"/>
          <p:cNvSpPr>
            <a:spLocks noGrp="1"/>
          </p:cNvSpPr>
          <p:nvPr>
            <p:ph idx="1"/>
          </p:nvPr>
        </p:nvSpPr>
        <p:spPr/>
        <p:txBody>
          <a:bodyPr>
            <a:normAutofit/>
          </a:bodyPr>
          <a:lstStyle/>
          <a:p>
            <a:r>
              <a:rPr lang="en-US" dirty="0"/>
              <a:t>Metadata qa/qc</a:t>
            </a:r>
            <a:endParaRPr lang="en-CA" dirty="0"/>
          </a:p>
          <a:p>
            <a:r>
              <a:rPr lang="en-US" dirty="0"/>
              <a:t>Manual fixing of metadata for data submissions (in parallel to contributor feedback)</a:t>
            </a:r>
            <a:endParaRPr lang="en-CA" dirty="0"/>
          </a:p>
          <a:p>
            <a:r>
              <a:rPr lang="en-US" dirty="0"/>
              <a:t>Bulk corrections (ongoing) in consultation with various stakeholders</a:t>
            </a:r>
          </a:p>
        </p:txBody>
      </p:sp>
    </p:spTree>
    <p:extLst>
      <p:ext uri="{BB962C8B-B14F-4D97-AF65-F5344CB8AC3E}">
        <p14:creationId xmlns:p14="http://schemas.microsoft.com/office/powerpoint/2010/main" val="2313254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woudc-updates-sag-ozone-2020-newtemplate.pptx.potx" id="{86913FBB-BB91-4C44-A8DA-F390AF3A42DB}" vid="{A884A215-A402-450B-9D39-49F4672915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D0B20BB41BF245A74357C5242D202F" ma:contentTypeVersion="10" ma:contentTypeDescription="Create a new document." ma:contentTypeScope="" ma:versionID="1d63c453300229499d35ee3cdb122db5">
  <xsd:schema xmlns:xsd="http://www.w3.org/2001/XMLSchema" xmlns:xs="http://www.w3.org/2001/XMLSchema" xmlns:p="http://schemas.microsoft.com/office/2006/metadata/properties" xmlns:ns3="acbb3e5d-5d9a-41a2-b23c-a652c639d82c" xmlns:ns4="b6e7370b-7179-4676-9a6f-0d2482e7e8cc" targetNamespace="http://schemas.microsoft.com/office/2006/metadata/properties" ma:root="true" ma:fieldsID="d0431d3bfc2050b05195e48dfbe7c542" ns3:_="" ns4:_="">
    <xsd:import namespace="acbb3e5d-5d9a-41a2-b23c-a652c639d82c"/>
    <xsd:import namespace="b6e7370b-7179-4676-9a6f-0d2482e7e8cc"/>
    <xsd:element name="properties">
      <xsd:complexType>
        <xsd:sequence>
          <xsd:element name="documentManagement">
            <xsd:complexType>
              <xsd:all>
                <xsd:element ref="ns3:Type_x0020_of_x0020_Document" minOccurs="0"/>
                <xsd:element ref="ns3:Branch" minOccurs="0"/>
                <xsd:element ref="ns3:Zone" minOccurs="0"/>
                <xsd:element ref="ns3:URL" minOccurs="0"/>
                <xsd:element ref="ns3:URL_x0020_of_x0020_the_x0020_document" minOccurs="0"/>
                <xsd:element ref="ns3:Last_x0020_Updates" minOccurs="0"/>
                <xsd:element ref="ns4:SharedWithUsers" minOccurs="0"/>
                <xsd:element ref="ns3:Languag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bb3e5d-5d9a-41a2-b23c-a652c639d82c" elementFormDefault="qualified">
    <xsd:import namespace="http://schemas.microsoft.com/office/2006/documentManagement/types"/>
    <xsd:import namespace="http://schemas.microsoft.com/office/infopath/2007/PartnerControls"/>
    <xsd:element name="Type_x0020_of_x0020_Document" ma:index="9" nillable="true" ma:displayName="Type of Document" ma:format="Dropdown" ma:internalName="Type_x0020_of_x0020_Document">
      <xsd:simpleType>
        <xsd:restriction base="dms:Choice">
          <xsd:enumeration value="Intranet Document Library - Communications Branch"/>
          <xsd:enumeration value="Intranet Document Library - Departmental (Non-Branch Specific)"/>
        </xsd:restriction>
      </xsd:simpleType>
    </xsd:element>
    <xsd:element name="Branch" ma:index="10" nillable="true" ma:displayName="Branch" ma:format="Dropdown" ma:internalName="Branch">
      <xsd:simpleType>
        <xsd:restriction base="dms:Choice">
          <xsd:enumeration value="Audit &amp; Evaluation"/>
          <xsd:enumeration value="Communicaitons"/>
          <xsd:enumeration value="Intranet"/>
        </xsd:restriction>
      </xsd:simpleType>
    </xsd:element>
    <xsd:element name="Zone" ma:index="11" nillable="true" ma:displayName="Zone" ma:default="AE-VE" ma:format="Dropdown" ma:internalName="Zone">
      <xsd:simpleType>
        <xsd:restriction base="dms:Choice">
          <xsd:enumeration value="AE-VE"/>
          <xsd:enumeration value="Communications"/>
          <xsd:enumeration value="Guide"/>
          <xsd:enumeration value="Communautés-Communities"/>
        </xsd:restriction>
      </xsd:simpleType>
    </xsd:element>
    <xsd:element name="URL" ma:index="12" nillable="true" ma:displayName="URL - on Intranet Document Location" ma:description="Please add the link where the document is located on Intrane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element name="URL_x0020_of_x0020_the_x0020_document" ma:index="13" nillable="true" ma:displayName="URL of the document" ma:description="Please add document URL." ma:format="Hyperlink" ma:internalName="URL_x0020_of_x0020_the_x0020_document">
      <xsd:complexType>
        <xsd:complexContent>
          <xsd:extension base="dms:URL">
            <xsd:sequence>
              <xsd:element name="Url" type="dms:ValidUrl" minOccurs="0" nillable="true"/>
              <xsd:element name="Description" type="xsd:string" nillable="true"/>
            </xsd:sequence>
          </xsd:extension>
        </xsd:complexContent>
      </xsd:complexType>
    </xsd:element>
    <xsd:element name="Last_x0020_Updates" ma:index="14" nillable="true" ma:displayName="Last Updates" ma:format="DateOnly" ma:internalName="Last_x0020_Updates">
      <xsd:simpleType>
        <xsd:restriction base="dms:DateTime"/>
      </xsd:simpleType>
    </xsd:element>
    <xsd:element name="Language" ma:index="16" nillable="true" ma:displayName="Language" ma:default="English" ma:format="Dropdown" ma:internalName="Language">
      <xsd:simpleType>
        <xsd:restriction base="dms:Choice">
          <xsd:enumeration value="English"/>
          <xsd:enumeration value="French"/>
          <xsd:enumeration value="Other"/>
        </xsd:restriction>
      </xsd:simpleType>
    </xsd:element>
  </xsd:schema>
  <xsd:schema xmlns:xsd="http://www.w3.org/2001/XMLSchema" xmlns:xs="http://www.w3.org/2001/XMLSchema" xmlns:dms="http://schemas.microsoft.com/office/2006/documentManagement/types" xmlns:pc="http://schemas.microsoft.com/office/infopath/2007/PartnerControls" targetNamespace="b6e7370b-7179-4676-9a6f-0d2482e7e8cc" elementFormDefault="qualified">
    <xsd:import namespace="http://schemas.microsoft.com/office/2006/documentManagement/types"/>
    <xsd:import namespace="http://schemas.microsoft.com/office/infopath/2007/PartnerControls"/>
    <xsd:element name="SharedWithUsers" ma:index="15"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0" ma:displayName="Content Type"/>
        <xsd:element ref="dc:title" maxOccurs="1" ma:index="4" ma:displayName="Title of Document"/>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ranch xmlns="acbb3e5d-5d9a-41a2-b23c-a652c639d82c" xsi:nil="true"/>
    <URL_x0020_of_x0020_the_x0020_document xmlns="acbb3e5d-5d9a-41a2-b23c-a652c639d82c">
      <Url xsi:nil="true"/>
      <Description xsi:nil="true"/>
    </URL_x0020_of_x0020_the_x0020_document>
    <Zone xmlns="acbb3e5d-5d9a-41a2-b23c-a652c639d82c">AE-VE</Zone>
    <Last_x0020_Updates xmlns="acbb3e5d-5d9a-41a2-b23c-a652c639d82c" xsi:nil="true"/>
    <URL xmlns="acbb3e5d-5d9a-41a2-b23c-a652c639d82c">
      <Url xsi:nil="true"/>
      <Description xsi:nil="true"/>
    </URL>
    <Type_x0020_of_x0020_Document xmlns="acbb3e5d-5d9a-41a2-b23c-a652c639d82c" xsi:nil="true"/>
    <Language xmlns="acbb3e5d-5d9a-41a2-b23c-a652c639d82c">English</Language>
  </documentManagement>
</p:properties>
</file>

<file path=customXml/itemProps1.xml><?xml version="1.0" encoding="utf-8"?>
<ds:datastoreItem xmlns:ds="http://schemas.openxmlformats.org/officeDocument/2006/customXml" ds:itemID="{55200EA2-90B0-472F-A07E-D53DA6F3BA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bb3e5d-5d9a-41a2-b23c-a652c639d82c"/>
    <ds:schemaRef ds:uri="b6e7370b-7179-4676-9a6f-0d2482e7e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EA80A5-E996-4AFB-AE99-8EED984C9B80}">
  <ds:schemaRefs>
    <ds:schemaRef ds:uri="http://schemas.microsoft.com/sharepoint/v3/contenttype/forms"/>
  </ds:schemaRefs>
</ds:datastoreItem>
</file>

<file path=customXml/itemProps3.xml><?xml version="1.0" encoding="utf-8"?>
<ds:datastoreItem xmlns:ds="http://schemas.openxmlformats.org/officeDocument/2006/customXml" ds:itemID="{D017B7C4-7C08-4A59-890F-4719C7EEBD0B}">
  <ds:schemaRefs>
    <ds:schemaRef ds:uri="http://purl.org/dc/terms/"/>
    <ds:schemaRef ds:uri="b6e7370b-7179-4676-9a6f-0d2482e7e8cc"/>
    <ds:schemaRef ds:uri="http://schemas.microsoft.com/office/2006/documentManagement/types"/>
    <ds:schemaRef ds:uri="http://schemas.openxmlformats.org/package/2006/metadata/core-properties"/>
    <ds:schemaRef ds:uri="http://purl.org/dc/elements/1.1/"/>
    <ds:schemaRef ds:uri="acbb3e5d-5d9a-41a2-b23c-a652c639d82c"/>
    <ds:schemaRef ds:uri="http://schemas.microsoft.com/office/infopath/2007/PartnerControl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woudc-updates-sag-ozone-2020</Template>
  <TotalTime>15438</TotalTime>
  <Words>1644</Words>
  <Application>Microsoft Macintosh PowerPoint</Application>
  <PresentationFormat>Widescreen</PresentationFormat>
  <Paragraphs>507</Paragraphs>
  <Slides>26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 Narrow</vt:lpstr>
      <vt:lpstr>Arial</vt:lpstr>
      <vt:lpstr>Arial Black</vt:lpstr>
      <vt:lpstr>Calibri</vt:lpstr>
      <vt:lpstr>Calibri Light</vt:lpstr>
      <vt:lpstr>Office Theme</vt:lpstr>
      <vt:lpstr>WMO WOUDC Update</vt:lpstr>
      <vt:lpstr>WMO WOUDC Update</vt:lpstr>
      <vt:lpstr>Data Centre Status</vt:lpstr>
      <vt:lpstr>Data Centre Status</vt:lpstr>
      <vt:lpstr>DATA CENTRE STATUS</vt:lpstr>
      <vt:lpstr>Standard operating procedures</vt:lpstr>
      <vt:lpstr>Number of Files by Dataset (2025-06-27)</vt:lpstr>
      <vt:lpstr>PowerPoint Presentation</vt:lpstr>
      <vt:lpstr>Processing Runs 2024</vt:lpstr>
      <vt:lpstr>Processing runs 2024</vt:lpstr>
      <vt:lpstr>Processing runs by year</vt:lpstr>
      <vt:lpstr>Downloads 2024</vt:lpstr>
      <vt:lpstr>WOUDC 2.0 release</vt:lpstr>
      <vt:lpstr>WOUDC 2.0</vt:lpstr>
      <vt:lpstr>PowerPoint Presentation</vt:lpstr>
      <vt:lpstr>PowerPoint Presentation</vt:lpstr>
      <vt:lpstr>PowerPoint Presentation</vt:lpstr>
      <vt:lpstr>WIS 2.0 Implementation</vt:lpstr>
      <vt:lpstr>PowerPoint Presentation</vt:lpstr>
      <vt:lpstr>WMO WOUDC Update</vt:lpstr>
      <vt:lpstr>External Data Centre LInkages</vt:lpstr>
      <vt:lpstr>Standard operating procedures</vt:lpstr>
      <vt:lpstr>Contributor Contact Validation</vt:lpstr>
      <vt:lpstr>Contributor Data Submission Reminders</vt:lpstr>
      <vt:lpstr>Data Submission Notifications</vt:lpstr>
      <vt:lpstr>Metadata Quality Correction</vt:lpstr>
    </vt:vector>
  </TitlesOfParts>
  <Company>Environment Climate Change Canada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WMO WOUDC Update</dc:title>
  <dc:creator>Kralidis,Tom [Ontario]</dc:creator>
  <cp:lastModifiedBy>Tom Kralidis</cp:lastModifiedBy>
  <cp:revision>268</cp:revision>
  <dcterms:created xsi:type="dcterms:W3CDTF">2020-10-18T23:44:47Z</dcterms:created>
  <dcterms:modified xsi:type="dcterms:W3CDTF">2025-07-08T00:42:58Z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0x01010075D0B20BB41BF245A74357C5242D202F</vt:lpwstr>
  </property>
</Properties>
</file>